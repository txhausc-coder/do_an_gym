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058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Em xin trình bày đồ án môn Lập trình Python, đề tài Xây dựng hệ thống quản lý phòng gym.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Phòng gym nhỏ hiện quản lý thủ công, dễ sai sót. Đồ án hướng tới 4 mục tiêu: ứng dụng desktop, CSDL 10 bảng, đúng luồng nghiệp vụ thực tế, và theo dõi dữ liệu thay đổi. (~45 giây)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dùng Python, Tkinter và SQLite — đều có sẵn, không cần cài thêm. Tách 2 tầng: database.py chứa logic, main.py chỉ hiển thị. (~40 giây)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dang_ky là bảng trung tâm, nối tới hội viên, gói tập, nhân viên; điểm danh, hóa đơn, dịch vụ đều tham chiếu về đây. (~35 giây)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em muốn nhấn mạnh nhất: 4 bước ràng buộc lẫn nhau, không đơn thuần CRUD. Đăng ký xong phải thanh toán mới điểm danh được; điểm danh rồi mới mua dịch vụ được. (~1 phút)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kỹ thuật em tâm đắc nhất. Em thêm cờ đánh dấu đã tính tiền cho từng dòng dịch vụ, để có thể thanh toán bổ sung nhiều lần mà không bao giờ tính trùng. (~55 giây)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thao tác được ghi vào nhật ký ngay lập tức, kèm người thực hiện — đáp ứng yêu cầu hiển thị dữ liệu thay đổi. (~40 giây)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hàm được kiểm thử độc lập bằng dòng lệnh trước khi ghép giao diện. Em cũng tự phát hiện và sửa vài lỗi khó như định dạng ngày và database bị khóa. (~40 giây)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đồ án đạt các mục tiêu đề ra, đặc biệt là luồng nghiệp vụ thực tế và cơ chế thanh toán nhiều đợt. Em xin cảm ơn thầy cô và xin phép demo trực tiếp. (~30 giây)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B5C"/>
        </a:solidFill>
        <a:effectLst/>
      </p:bgPr>
    </p:bg>
    <p:spTree>
      <p:nvGrpSpPr>
        <p:cNvPr id="1" name=""/>
        <p:cNvGrpSpPr/>
        <p:nvPr/>
      </p:nvGrpSpPr>
      <p:grpSpPr>
        <a:xfrm>
          <a:off x="0" y="0"/>
          <a:ext cx="0" cy="0"/>
          <a:chOff x="0" y="0"/>
          <a:chExt cx="0" cy="0"/>
        </a:xfrm>
      </p:grpSpPr>
      <p:sp>
        <p:nvSpPr>
          <p:cNvPr id="4" name="Shape 2"/>
          <p:cNvSpPr/>
          <p:nvPr/>
        </p:nvSpPr>
        <p:spPr>
          <a:xfrm>
            <a:off x="5361003" y="868680"/>
            <a:ext cx="1466946" cy="1536192"/>
          </a:xfrm>
          <a:prstGeom prst="ellipse">
            <a:avLst/>
          </a:prstGeom>
          <a:solidFill>
            <a:srgbClr val="1836B2"/>
          </a:solidFill>
          <a:ln/>
        </p:spPr>
        <p:txBody>
          <a:bodyPr/>
          <a:lstStyle/>
          <a:p>
            <a:endParaRPr lang="vi-VN"/>
          </a:p>
        </p:txBody>
      </p:sp>
      <p:pic>
        <p:nvPicPr>
          <p:cNvPr id="5" name="Image 0" descr="preencoded.png"/>
          <p:cNvPicPr>
            <a:picLocks noChangeAspect="1"/>
          </p:cNvPicPr>
          <p:nvPr/>
        </p:nvPicPr>
        <p:blipFill>
          <a:blip r:embed="rId3"/>
          <a:stretch>
            <a:fillRect/>
          </a:stretch>
        </p:blipFill>
        <p:spPr>
          <a:xfrm>
            <a:off x="5433133" y="905256"/>
            <a:ext cx="1394815" cy="1394815"/>
          </a:xfrm>
          <a:prstGeom prst="rect">
            <a:avLst/>
          </a:prstGeom>
        </p:spPr>
      </p:pic>
      <p:sp>
        <p:nvSpPr>
          <p:cNvPr id="50" name="Uni Name"/>
          <p:cNvSpPr/>
          <p:nvPr/>
        </p:nvSpPr>
        <p:spPr>
          <a:xfrm>
            <a:off x="0" y="457200"/>
            <a:ext cx="12188952" cy="320040"/>
          </a:xfrm>
          <a:prstGeom prst="rect">
            <a:avLst/>
          </a:prstGeom>
          <a:noFill/>
          <a:ln/>
        </p:spPr>
        <p:txBody>
          <a:bodyPr wrap="square" rtlCol="0" anchor="ctr"/>
          <a:lstStyle/>
          <a:p>
            <a:pPr marL="0" indent="0" algn="ctr">
              <a:buNone/>
            </a:pPr>
            <a:r>
              <a:rPr lang="en-US" sz="1400" b="1" spc="150" dirty="0">
                <a:solidFill>
                  <a:schemeClr val="bg1"/>
                </a:solidFill>
                <a:latin typeface="Times New Roman" panose="02020603050405020304" pitchFamily="18" charset="0"/>
                <a:ea typeface="Calibri" pitchFamily="34" charset="-122"/>
                <a:cs typeface="Times New Roman" panose="02020603050405020304" pitchFamily="18" charset="0"/>
              </a:rPr>
              <a:t>TRƯỜNG ĐẠI HỌC CÔNG NGHỆ THÔNG TIN</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6" name="Text 3"/>
          <p:cNvSpPr/>
          <p:nvPr/>
        </p:nvSpPr>
        <p:spPr>
          <a:xfrm>
            <a:off x="0" y="2514600"/>
            <a:ext cx="12188952" cy="457200"/>
          </a:xfrm>
          <a:prstGeom prst="rect">
            <a:avLst/>
          </a:prstGeom>
          <a:noFill/>
          <a:ln/>
        </p:spPr>
        <p:txBody>
          <a:bodyPr wrap="square" rtlCol="0" anchor="ctr"/>
          <a:lstStyle/>
          <a:p>
            <a:pPr marL="0" indent="0" algn="ctr">
              <a:buNone/>
            </a:pPr>
            <a:r>
              <a:rPr lang="en-US" sz="1700" dirty="0">
                <a:solidFill>
                  <a:srgbClr val="FFC000"/>
                </a:solidFill>
                <a:latin typeface="Times New Roman" panose="02020603050405020304" pitchFamily="18" charset="0"/>
                <a:ea typeface="Calibri" pitchFamily="34" charset="-122"/>
                <a:cs typeface="Times New Roman" panose="02020603050405020304" pitchFamily="18" charset="0"/>
              </a:rPr>
              <a:t>ĐỒ ÁN MÔN LẬP TRÌNH PYTHON</a:t>
            </a:r>
            <a:endParaRPr lang="en-US" sz="1700" dirty="0">
              <a:solidFill>
                <a:srgbClr val="FFC000"/>
              </a:solidFill>
              <a:latin typeface="Times New Roman" panose="02020603050405020304" pitchFamily="18" charset="0"/>
              <a:cs typeface="Times New Roman" panose="02020603050405020304" pitchFamily="18" charset="0"/>
            </a:endParaRPr>
          </a:p>
        </p:txBody>
      </p:sp>
      <p:sp>
        <p:nvSpPr>
          <p:cNvPr id="7" name="Text 4"/>
          <p:cNvSpPr/>
          <p:nvPr/>
        </p:nvSpPr>
        <p:spPr>
          <a:xfrm>
            <a:off x="640080" y="2971800"/>
            <a:ext cx="10908792" cy="914400"/>
          </a:xfrm>
          <a:prstGeom prst="rect">
            <a:avLst/>
          </a:prstGeom>
          <a:noFill/>
          <a:ln/>
        </p:spPr>
        <p:txBody>
          <a:bodyPr wrap="square" rtlCol="0" anchor="ctr"/>
          <a:lstStyle/>
          <a:p>
            <a:pPr marL="0" indent="0" algn="ctr">
              <a:buNone/>
            </a:pPr>
            <a:r>
              <a:rPr lang="en-US" sz="4200" b="1" dirty="0">
                <a:solidFill>
                  <a:schemeClr val="bg1"/>
                </a:solidFill>
                <a:latin typeface="Times New Roman" panose="02020603050405020304" pitchFamily="18" charset="0"/>
                <a:ea typeface="Cambria" pitchFamily="34" charset="-122"/>
                <a:cs typeface="Times New Roman" panose="02020603050405020304" pitchFamily="18" charset="0"/>
              </a:rPr>
              <a:t>HỆ THỐNG QUẢN LÝ PHÒNG GYM</a:t>
            </a:r>
            <a:endParaRPr lang="en-US" sz="4200" dirty="0">
              <a:solidFill>
                <a:schemeClr val="bg1"/>
              </a:solidFill>
              <a:latin typeface="Times New Roman" panose="02020603050405020304" pitchFamily="18" charset="0"/>
              <a:cs typeface="Times New Roman" panose="02020603050405020304" pitchFamily="18" charset="0"/>
            </a:endParaRPr>
          </a:p>
        </p:txBody>
      </p:sp>
      <p:sp>
        <p:nvSpPr>
          <p:cNvPr id="9" name="Text 6"/>
          <p:cNvSpPr/>
          <p:nvPr/>
        </p:nvSpPr>
        <p:spPr>
          <a:xfrm>
            <a:off x="-256674" y="4572000"/>
            <a:ext cx="12188952" cy="365760"/>
          </a:xfrm>
          <a:prstGeom prst="rect">
            <a:avLst/>
          </a:prstGeom>
          <a:noFill/>
          <a:ln/>
        </p:spPr>
        <p:txBody>
          <a:bodyPr wrap="square" rtlCol="0" anchor="ctr"/>
          <a:lstStyle/>
          <a:p>
            <a:pPr algn="ctr"/>
            <a:r>
              <a:rPr sz="1500" dirty="0">
                <a:solidFill>
                  <a:srgbClr val="FFFFFF"/>
                </a:solidFill>
                <a:latin typeface="+mj-lt"/>
              </a:rPr>
              <a:t>Sinh </a:t>
            </a:r>
            <a:r>
              <a:rPr sz="1500" dirty="0" err="1">
                <a:solidFill>
                  <a:srgbClr val="FFFFFF"/>
                </a:solidFill>
                <a:latin typeface="+mj-lt"/>
              </a:rPr>
              <a:t>viên</a:t>
            </a:r>
            <a:r>
              <a:rPr sz="1500" dirty="0">
                <a:solidFill>
                  <a:srgbClr val="FFFFFF"/>
                </a:solidFill>
                <a:latin typeface="+mj-lt"/>
              </a:rPr>
              <a:t>: Trương Xuân Hậu</a:t>
            </a:r>
          </a:p>
          <a:p>
            <a:pPr algn="ctr"/>
            <a:r>
              <a:rPr sz="1500" dirty="0">
                <a:solidFill>
                  <a:srgbClr val="FFFFFF"/>
                </a:solidFill>
                <a:latin typeface="+mj-lt"/>
              </a:rPr>
              <a:t>MSSV: 25410204</a:t>
            </a:r>
          </a:p>
        </p:txBody>
      </p:sp>
      <p:sp>
        <p:nvSpPr>
          <p:cNvPr id="10" name="Text 7"/>
          <p:cNvSpPr/>
          <p:nvPr/>
        </p:nvSpPr>
        <p:spPr>
          <a:xfrm>
            <a:off x="0" y="5138928"/>
            <a:ext cx="12188952" cy="365760"/>
          </a:xfrm>
          <a:prstGeom prst="rect">
            <a:avLst/>
          </a:prstGeom>
          <a:noFill/>
          <a:ln/>
        </p:spPr>
        <p:txBody>
          <a:bodyPr wrap="square" rtlCol="0" anchor="ctr"/>
          <a:lstStyle/>
          <a:p>
            <a:pPr algn="ctr"/>
            <a:r>
              <a:rPr lang="en-US" sz="1500" dirty="0">
                <a:solidFill>
                  <a:schemeClr val="bg1"/>
                </a:solidFill>
                <a:latin typeface="+mj-lt"/>
                <a:ea typeface="Calibri" pitchFamily="34" charset="-122"/>
                <a:cs typeface="Calibri" pitchFamily="34" charset="-120"/>
              </a:rPr>
              <a:t>GVHD:</a:t>
            </a:r>
            <a:r>
              <a:rPr lang="vi-VN" sz="1500" dirty="0">
                <a:solidFill>
                  <a:schemeClr val="bg1"/>
                </a:solidFill>
                <a:latin typeface="+mj-lt"/>
                <a:ea typeface="Calibri" pitchFamily="34" charset="-122"/>
                <a:cs typeface="Calibri" pitchFamily="34" charset="-120"/>
              </a:rPr>
              <a:t> </a:t>
            </a:r>
            <a:r>
              <a:rPr lang="vi-VN" sz="1500" dirty="0" err="1">
                <a:solidFill>
                  <a:schemeClr val="bg1"/>
                </a:solidFill>
                <a:latin typeface="+mj-lt"/>
                <a:ea typeface="Calibri" pitchFamily="34" charset="-122"/>
                <a:cs typeface="Calibri" pitchFamily="34" charset="-120"/>
              </a:rPr>
              <a:t>ThS</a:t>
            </a:r>
            <a:r>
              <a:rPr lang="vi-VN" sz="1500" dirty="0">
                <a:solidFill>
                  <a:schemeClr val="bg1"/>
                </a:solidFill>
                <a:latin typeface="+mj-lt"/>
                <a:ea typeface="Calibri" pitchFamily="34" charset="-122"/>
                <a:cs typeface="Calibri" pitchFamily="34" charset="-120"/>
              </a:rPr>
              <a:t>. Nghi Hoàng Khoa</a:t>
            </a:r>
            <a:endParaRPr lang="en-US" sz="1500" dirty="0">
              <a:solidFill>
                <a:schemeClr val="bg1"/>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68580"/>
            <a:ext cx="11091672" cy="640080"/>
          </a:xfrm>
          <a:prstGeom prst="rect">
            <a:avLst/>
          </a:prstGeom>
          <a:noFill/>
          <a:ln/>
        </p:spPr>
        <p:txBody>
          <a:bodyPr wrap="square" lIns="0" tIns="0" rIns="0" bIns="0" rtlCol="0" anchor="ctr"/>
          <a:lstStyle/>
          <a:p>
            <a:pPr marL="0" indent="0" algn="ctr">
              <a:buNone/>
            </a:pPr>
            <a:r>
              <a:rPr lang="en-US" sz="2800" b="1" dirty="0">
                <a:ea typeface="Cambria" pitchFamily="34" charset="-122"/>
                <a:cs typeface="Cambria" pitchFamily="34" charset="-120"/>
              </a:rPr>
              <a:t>Bài toán và mục tiêu</a:t>
            </a:r>
            <a:endParaRPr lang="en-US" sz="2800" dirty="0"/>
          </a:p>
        </p:txBody>
      </p:sp>
      <p:sp>
        <p:nvSpPr>
          <p:cNvPr id="3" name="Text 1"/>
          <p:cNvSpPr/>
          <p:nvPr/>
        </p:nvSpPr>
        <p:spPr>
          <a:xfrm>
            <a:off x="548640" y="960120"/>
            <a:ext cx="11091672" cy="640080"/>
          </a:xfrm>
          <a:prstGeom prst="rect">
            <a:avLst/>
          </a:prstGeom>
          <a:noFill/>
          <a:ln/>
        </p:spPr>
        <p:txBody>
          <a:bodyPr wrap="square" lIns="0" tIns="0" rIns="0" bIns="0" rtlCol="0" anchor="ctr"/>
          <a:lstStyle/>
          <a:p>
            <a:pPr marL="0" indent="0" algn="ctr">
              <a:buNone/>
            </a:pPr>
            <a:r>
              <a:rPr lang="en-US" sz="1500" b="1" dirty="0">
                <a:ea typeface="Calibri" pitchFamily="34" charset="-122"/>
                <a:cs typeface="Calibri" pitchFamily="34" charset="-120"/>
              </a:rPr>
              <a:t>Phòng gym vừa và nhỏ quản lý bằng sổ sách: dễ sai sót, khó kiểm soát hạn tập, khó kiểm soát ai đã thanh toán, mất công tổng hợp doanh thu.</a:t>
            </a:r>
            <a:endParaRPr lang="en-US" sz="1500" b="1" dirty="0"/>
          </a:p>
        </p:txBody>
      </p:sp>
      <p:sp>
        <p:nvSpPr>
          <p:cNvPr id="4" name="Shape 2"/>
          <p:cNvSpPr/>
          <p:nvPr/>
        </p:nvSpPr>
        <p:spPr>
          <a:xfrm>
            <a:off x="548640" y="1783080"/>
            <a:ext cx="5394960" cy="1874520"/>
          </a:xfrm>
          <a:prstGeom prst="roundRect">
            <a:avLst>
              <a:gd name="adj" fmla="val 5854"/>
            </a:avLst>
          </a:prstGeom>
          <a:solidFill>
            <a:srgbClr val="F5F6FA"/>
          </a:solidFill>
          <a:ln/>
          <a:effectLst>
            <a:outerShdw blurRad="76200" dist="25400" dir="5400000" algn="bl" rotWithShape="0">
              <a:srgbClr val="000000">
                <a:alpha val="15000"/>
              </a:srgbClr>
            </a:outerShdw>
          </a:effectLst>
        </p:spPr>
        <p:txBody>
          <a:bodyPr/>
          <a:lstStyle/>
          <a:p>
            <a:endParaRPr lang="vi-VN"/>
          </a:p>
        </p:txBody>
      </p:sp>
      <p:sp>
        <p:nvSpPr>
          <p:cNvPr id="5" name="Shape 3"/>
          <p:cNvSpPr/>
          <p:nvPr/>
        </p:nvSpPr>
        <p:spPr>
          <a:xfrm>
            <a:off x="822960" y="2286000"/>
            <a:ext cx="868680" cy="868680"/>
          </a:xfrm>
          <a:prstGeom prst="ellipse">
            <a:avLst/>
          </a:prstGeom>
          <a:solidFill>
            <a:srgbClr val="2F3C7E"/>
          </a:solidFill>
          <a:ln/>
        </p:spPr>
        <p:txBody>
          <a:bodyPr/>
          <a:lstStyle/>
          <a:p>
            <a:endParaRPr lang="vi-VN"/>
          </a:p>
        </p:txBody>
      </p:sp>
      <p:pic>
        <p:nvPicPr>
          <p:cNvPr id="6" name="Image 0" descr="preencoded.png"/>
          <p:cNvPicPr>
            <a:picLocks noChangeAspect="1"/>
          </p:cNvPicPr>
          <p:nvPr/>
        </p:nvPicPr>
        <p:blipFill>
          <a:blip r:embed="rId3"/>
          <a:stretch>
            <a:fillRect/>
          </a:stretch>
        </p:blipFill>
        <p:spPr>
          <a:xfrm>
            <a:off x="1031443" y="2494483"/>
            <a:ext cx="451714" cy="451714"/>
          </a:xfrm>
          <a:prstGeom prst="rect">
            <a:avLst/>
          </a:prstGeom>
        </p:spPr>
      </p:pic>
      <p:sp>
        <p:nvSpPr>
          <p:cNvPr id="7" name="Text 4"/>
          <p:cNvSpPr/>
          <p:nvPr/>
        </p:nvSpPr>
        <p:spPr>
          <a:xfrm>
            <a:off x="1920240" y="2103120"/>
            <a:ext cx="3840480" cy="457200"/>
          </a:xfrm>
          <a:prstGeom prst="rect">
            <a:avLst/>
          </a:prstGeom>
          <a:noFill/>
          <a:ln/>
        </p:spPr>
        <p:txBody>
          <a:bodyPr wrap="square" lIns="0" tIns="0" rIns="0" bIns="0" rtlCol="0" anchor="ctr"/>
          <a:lstStyle/>
          <a:p>
            <a:pPr marL="0" indent="0">
              <a:buNone/>
            </a:pPr>
            <a:r>
              <a:rPr lang="en-US" sz="1800" b="1" dirty="0">
                <a:solidFill>
                  <a:srgbClr val="2F3C7E"/>
                </a:solidFill>
                <a:ea typeface="Cambria" pitchFamily="34" charset="-122"/>
                <a:cs typeface="Cambria" pitchFamily="34" charset="-120"/>
              </a:rPr>
              <a:t>Ứng dụng desktop</a:t>
            </a:r>
            <a:endParaRPr lang="en-US" sz="1800" dirty="0"/>
          </a:p>
        </p:txBody>
      </p:sp>
      <p:sp>
        <p:nvSpPr>
          <p:cNvPr id="8" name="Text 5"/>
          <p:cNvSpPr/>
          <p:nvPr/>
        </p:nvSpPr>
        <p:spPr>
          <a:xfrm>
            <a:off x="1920240" y="2560320"/>
            <a:ext cx="3840480" cy="914400"/>
          </a:xfrm>
          <a:prstGeom prst="rect">
            <a:avLst/>
          </a:prstGeom>
          <a:noFill/>
          <a:ln/>
        </p:spPr>
        <p:txBody>
          <a:bodyPr wrap="square" lIns="0" tIns="0" rIns="0" bIns="0" rtlCol="0" anchor="ctr"/>
          <a:lstStyle/>
          <a:p>
            <a:pPr marL="0" indent="0">
              <a:buNone/>
            </a:pPr>
            <a:r>
              <a:rPr lang="en-US" sz="1350" dirty="0">
                <a:ea typeface="Calibri" pitchFamily="34" charset="-122"/>
                <a:cs typeface="Calibri" pitchFamily="34" charset="-120"/>
              </a:rPr>
              <a:t>Giao diện Tkinter 8 tab, dễ dùng cho lễ tân</a:t>
            </a:r>
            <a:endParaRPr lang="en-US" sz="1350" dirty="0"/>
          </a:p>
        </p:txBody>
      </p:sp>
      <p:sp>
        <p:nvSpPr>
          <p:cNvPr id="9" name="Shape 6"/>
          <p:cNvSpPr/>
          <p:nvPr/>
        </p:nvSpPr>
        <p:spPr>
          <a:xfrm>
            <a:off x="6217920" y="1783080"/>
            <a:ext cx="5394960" cy="1874520"/>
          </a:xfrm>
          <a:prstGeom prst="roundRect">
            <a:avLst>
              <a:gd name="adj" fmla="val 5854"/>
            </a:avLst>
          </a:prstGeom>
          <a:solidFill>
            <a:srgbClr val="F5F6FA"/>
          </a:solidFill>
          <a:ln/>
          <a:effectLst>
            <a:outerShdw blurRad="76200" dist="25400" dir="5400000" algn="bl" rotWithShape="0">
              <a:srgbClr val="000000">
                <a:alpha val="15000"/>
              </a:srgbClr>
            </a:outerShdw>
          </a:effectLst>
        </p:spPr>
        <p:txBody>
          <a:bodyPr/>
          <a:lstStyle/>
          <a:p>
            <a:endParaRPr lang="vi-VN"/>
          </a:p>
        </p:txBody>
      </p:sp>
      <p:sp>
        <p:nvSpPr>
          <p:cNvPr id="10" name="Shape 7"/>
          <p:cNvSpPr/>
          <p:nvPr/>
        </p:nvSpPr>
        <p:spPr>
          <a:xfrm>
            <a:off x="6492240" y="2286000"/>
            <a:ext cx="868680" cy="868680"/>
          </a:xfrm>
          <a:prstGeom prst="ellipse">
            <a:avLst/>
          </a:prstGeom>
          <a:solidFill>
            <a:srgbClr val="2F3C7E"/>
          </a:solidFill>
          <a:ln/>
        </p:spPr>
        <p:txBody>
          <a:bodyPr/>
          <a:lstStyle/>
          <a:p>
            <a:endParaRPr lang="vi-VN"/>
          </a:p>
        </p:txBody>
      </p:sp>
      <p:pic>
        <p:nvPicPr>
          <p:cNvPr id="11" name="Image 1" descr="preencoded.png"/>
          <p:cNvPicPr>
            <a:picLocks noChangeAspect="1"/>
          </p:cNvPicPr>
          <p:nvPr/>
        </p:nvPicPr>
        <p:blipFill>
          <a:blip r:embed="rId4"/>
          <a:stretch>
            <a:fillRect/>
          </a:stretch>
        </p:blipFill>
        <p:spPr>
          <a:xfrm>
            <a:off x="6700723" y="2494483"/>
            <a:ext cx="451714" cy="451714"/>
          </a:xfrm>
          <a:prstGeom prst="rect">
            <a:avLst/>
          </a:prstGeom>
        </p:spPr>
      </p:pic>
      <p:sp>
        <p:nvSpPr>
          <p:cNvPr id="12" name="Text 8"/>
          <p:cNvSpPr/>
          <p:nvPr/>
        </p:nvSpPr>
        <p:spPr>
          <a:xfrm>
            <a:off x="7589520" y="2103120"/>
            <a:ext cx="3840480" cy="457200"/>
          </a:xfrm>
          <a:prstGeom prst="rect">
            <a:avLst/>
          </a:prstGeom>
          <a:noFill/>
          <a:ln/>
        </p:spPr>
        <p:txBody>
          <a:bodyPr wrap="square" lIns="0" tIns="0" rIns="0" bIns="0" rtlCol="0" anchor="ctr"/>
          <a:lstStyle/>
          <a:p>
            <a:pPr marL="0" indent="0">
              <a:buNone/>
            </a:pPr>
            <a:r>
              <a:rPr lang="en-US" sz="1800" b="1" dirty="0">
                <a:solidFill>
                  <a:srgbClr val="2F3C7E"/>
                </a:solidFill>
                <a:ea typeface="Cambria" pitchFamily="34" charset="-122"/>
                <a:cs typeface="Cambria" pitchFamily="34" charset="-120"/>
              </a:rPr>
              <a:t>CSDL 10 bảng</a:t>
            </a:r>
            <a:endParaRPr lang="en-US" sz="1800" dirty="0"/>
          </a:p>
        </p:txBody>
      </p:sp>
      <p:sp>
        <p:nvSpPr>
          <p:cNvPr id="13" name="Text 9"/>
          <p:cNvSpPr/>
          <p:nvPr/>
        </p:nvSpPr>
        <p:spPr>
          <a:xfrm>
            <a:off x="7589520" y="2560320"/>
            <a:ext cx="3840480" cy="914400"/>
          </a:xfrm>
          <a:prstGeom prst="rect">
            <a:avLst/>
          </a:prstGeom>
          <a:noFill/>
          <a:ln/>
        </p:spPr>
        <p:txBody>
          <a:bodyPr wrap="square" lIns="0" tIns="0" rIns="0" bIns="0" rtlCol="0" anchor="ctr"/>
          <a:lstStyle/>
          <a:p>
            <a:pPr marL="0" indent="0">
              <a:buNone/>
            </a:pPr>
            <a:r>
              <a:rPr lang="en-US" sz="1350" dirty="0">
                <a:ea typeface="Calibri" pitchFamily="34" charset="-122"/>
                <a:cs typeface="Calibri" pitchFamily="34" charset="-120"/>
              </a:rPr>
              <a:t>SQLite có khóa ngoại, ràng buộc toàn vẹn dữ liệu</a:t>
            </a:r>
            <a:endParaRPr lang="en-US" sz="1350" dirty="0"/>
          </a:p>
        </p:txBody>
      </p:sp>
      <p:sp>
        <p:nvSpPr>
          <p:cNvPr id="14" name="Shape 10"/>
          <p:cNvSpPr/>
          <p:nvPr/>
        </p:nvSpPr>
        <p:spPr>
          <a:xfrm>
            <a:off x="548640" y="3931920"/>
            <a:ext cx="5394960" cy="1874520"/>
          </a:xfrm>
          <a:prstGeom prst="roundRect">
            <a:avLst>
              <a:gd name="adj" fmla="val 5854"/>
            </a:avLst>
          </a:prstGeom>
          <a:solidFill>
            <a:srgbClr val="F5F6FA"/>
          </a:solidFill>
          <a:ln/>
          <a:effectLst>
            <a:outerShdw blurRad="76200" dist="25400" dir="5400000" algn="bl" rotWithShape="0">
              <a:srgbClr val="000000">
                <a:alpha val="15000"/>
              </a:srgbClr>
            </a:outerShdw>
          </a:effectLst>
        </p:spPr>
        <p:txBody>
          <a:bodyPr/>
          <a:lstStyle/>
          <a:p>
            <a:endParaRPr lang="vi-VN"/>
          </a:p>
        </p:txBody>
      </p:sp>
      <p:sp>
        <p:nvSpPr>
          <p:cNvPr id="15" name="Shape 11"/>
          <p:cNvSpPr/>
          <p:nvPr/>
        </p:nvSpPr>
        <p:spPr>
          <a:xfrm>
            <a:off x="822960" y="4434840"/>
            <a:ext cx="868680" cy="868680"/>
          </a:xfrm>
          <a:prstGeom prst="ellipse">
            <a:avLst/>
          </a:prstGeom>
          <a:solidFill>
            <a:srgbClr val="2F3C7E"/>
          </a:solidFill>
          <a:ln/>
        </p:spPr>
        <p:txBody>
          <a:bodyPr/>
          <a:lstStyle/>
          <a:p>
            <a:endParaRPr lang="vi-VN"/>
          </a:p>
        </p:txBody>
      </p:sp>
      <p:pic>
        <p:nvPicPr>
          <p:cNvPr id="16" name="Image 2" descr="preencoded.png"/>
          <p:cNvPicPr>
            <a:picLocks noChangeAspect="1"/>
          </p:cNvPicPr>
          <p:nvPr/>
        </p:nvPicPr>
        <p:blipFill>
          <a:blip r:embed="rId5"/>
          <a:stretch>
            <a:fillRect/>
          </a:stretch>
        </p:blipFill>
        <p:spPr>
          <a:xfrm>
            <a:off x="1031443" y="4643323"/>
            <a:ext cx="451714" cy="451714"/>
          </a:xfrm>
          <a:prstGeom prst="rect">
            <a:avLst/>
          </a:prstGeom>
        </p:spPr>
      </p:pic>
      <p:sp>
        <p:nvSpPr>
          <p:cNvPr id="17" name="Text 12"/>
          <p:cNvSpPr/>
          <p:nvPr/>
        </p:nvSpPr>
        <p:spPr>
          <a:xfrm>
            <a:off x="1920240" y="4251960"/>
            <a:ext cx="3840480" cy="457200"/>
          </a:xfrm>
          <a:prstGeom prst="rect">
            <a:avLst/>
          </a:prstGeom>
          <a:noFill/>
          <a:ln/>
        </p:spPr>
        <p:txBody>
          <a:bodyPr wrap="square" lIns="0" tIns="0" rIns="0" bIns="0" rtlCol="0" anchor="ctr"/>
          <a:lstStyle/>
          <a:p>
            <a:pPr marL="0" indent="0">
              <a:buNone/>
            </a:pPr>
            <a:r>
              <a:rPr lang="en-US" sz="1800" b="1" dirty="0">
                <a:solidFill>
                  <a:srgbClr val="2F3C7E"/>
                </a:solidFill>
                <a:ea typeface="Cambria" pitchFamily="34" charset="-122"/>
                <a:cs typeface="Cambria" pitchFamily="34" charset="-120"/>
              </a:rPr>
              <a:t>Đúng luồng nghiệp vụ</a:t>
            </a:r>
            <a:endParaRPr lang="en-US" sz="1800" dirty="0"/>
          </a:p>
        </p:txBody>
      </p:sp>
      <p:sp>
        <p:nvSpPr>
          <p:cNvPr id="18" name="Text 13"/>
          <p:cNvSpPr/>
          <p:nvPr/>
        </p:nvSpPr>
        <p:spPr>
          <a:xfrm>
            <a:off x="1920240" y="4709160"/>
            <a:ext cx="3840480" cy="914400"/>
          </a:xfrm>
          <a:prstGeom prst="rect">
            <a:avLst/>
          </a:prstGeom>
          <a:noFill/>
          <a:ln/>
        </p:spPr>
        <p:txBody>
          <a:bodyPr wrap="square" lIns="0" tIns="0" rIns="0" bIns="0" rtlCol="0" anchor="ctr"/>
          <a:lstStyle/>
          <a:p>
            <a:pPr marL="0" indent="0">
              <a:buNone/>
            </a:pPr>
            <a:r>
              <a:rPr lang="en-US" sz="1350" dirty="0">
                <a:ea typeface="Calibri" pitchFamily="34" charset="-122"/>
                <a:cs typeface="Calibri" pitchFamily="34" charset="-120"/>
              </a:rPr>
              <a:t>Ràng buộc chặt: phải thanh toán mới được tập</a:t>
            </a:r>
            <a:endParaRPr lang="en-US" sz="1350" dirty="0"/>
          </a:p>
        </p:txBody>
      </p:sp>
      <p:sp>
        <p:nvSpPr>
          <p:cNvPr id="19" name="Shape 14"/>
          <p:cNvSpPr/>
          <p:nvPr/>
        </p:nvSpPr>
        <p:spPr>
          <a:xfrm>
            <a:off x="6217920" y="3931920"/>
            <a:ext cx="5394960" cy="1874520"/>
          </a:xfrm>
          <a:prstGeom prst="roundRect">
            <a:avLst>
              <a:gd name="adj" fmla="val 5854"/>
            </a:avLst>
          </a:prstGeom>
          <a:solidFill>
            <a:srgbClr val="F5F6FA"/>
          </a:solidFill>
          <a:ln/>
          <a:effectLst>
            <a:outerShdw blurRad="76200" dist="25400" dir="5400000" algn="bl" rotWithShape="0">
              <a:srgbClr val="000000">
                <a:alpha val="15000"/>
              </a:srgbClr>
            </a:outerShdw>
          </a:effectLst>
        </p:spPr>
        <p:txBody>
          <a:bodyPr/>
          <a:lstStyle/>
          <a:p>
            <a:endParaRPr lang="vi-VN"/>
          </a:p>
        </p:txBody>
      </p:sp>
      <p:sp>
        <p:nvSpPr>
          <p:cNvPr id="20" name="Shape 15"/>
          <p:cNvSpPr/>
          <p:nvPr/>
        </p:nvSpPr>
        <p:spPr>
          <a:xfrm>
            <a:off x="6492240" y="4434840"/>
            <a:ext cx="868680" cy="868680"/>
          </a:xfrm>
          <a:prstGeom prst="ellipse">
            <a:avLst/>
          </a:prstGeom>
          <a:solidFill>
            <a:srgbClr val="2F3C7E"/>
          </a:solidFill>
          <a:ln/>
        </p:spPr>
        <p:txBody>
          <a:bodyPr/>
          <a:lstStyle/>
          <a:p>
            <a:endParaRPr lang="vi-VN"/>
          </a:p>
        </p:txBody>
      </p:sp>
      <p:pic>
        <p:nvPicPr>
          <p:cNvPr id="21" name="Image 3" descr="preencoded.png"/>
          <p:cNvPicPr>
            <a:picLocks noChangeAspect="1"/>
          </p:cNvPicPr>
          <p:nvPr/>
        </p:nvPicPr>
        <p:blipFill>
          <a:blip r:embed="rId6"/>
          <a:stretch>
            <a:fillRect/>
          </a:stretch>
        </p:blipFill>
        <p:spPr>
          <a:xfrm>
            <a:off x="6700723" y="4643323"/>
            <a:ext cx="451714" cy="451714"/>
          </a:xfrm>
          <a:prstGeom prst="rect">
            <a:avLst/>
          </a:prstGeom>
        </p:spPr>
      </p:pic>
      <p:sp>
        <p:nvSpPr>
          <p:cNvPr id="22" name="Text 16"/>
          <p:cNvSpPr/>
          <p:nvPr/>
        </p:nvSpPr>
        <p:spPr>
          <a:xfrm>
            <a:off x="7589520" y="4251960"/>
            <a:ext cx="3840480" cy="457200"/>
          </a:xfrm>
          <a:prstGeom prst="rect">
            <a:avLst/>
          </a:prstGeom>
          <a:noFill/>
          <a:ln/>
        </p:spPr>
        <p:txBody>
          <a:bodyPr wrap="square" lIns="0" tIns="0" rIns="0" bIns="0" rtlCol="0" anchor="ctr"/>
          <a:lstStyle/>
          <a:p>
            <a:pPr marL="0" indent="0">
              <a:buNone/>
            </a:pPr>
            <a:r>
              <a:rPr lang="en-US" sz="1800" b="1" dirty="0">
                <a:solidFill>
                  <a:srgbClr val="2F3C7E"/>
                </a:solidFill>
                <a:ea typeface="Cambria" pitchFamily="34" charset="-122"/>
                <a:cs typeface="Cambria" pitchFamily="34" charset="-120"/>
              </a:rPr>
              <a:t>Theo dõi thay đổi</a:t>
            </a:r>
            <a:endParaRPr lang="en-US" sz="1800" dirty="0"/>
          </a:p>
        </p:txBody>
      </p:sp>
      <p:sp>
        <p:nvSpPr>
          <p:cNvPr id="23" name="Text 17"/>
          <p:cNvSpPr/>
          <p:nvPr/>
        </p:nvSpPr>
        <p:spPr>
          <a:xfrm>
            <a:off x="7589520" y="4709160"/>
            <a:ext cx="3840480" cy="914400"/>
          </a:xfrm>
          <a:prstGeom prst="rect">
            <a:avLst/>
          </a:prstGeom>
          <a:noFill/>
          <a:ln/>
        </p:spPr>
        <p:txBody>
          <a:bodyPr wrap="square" lIns="0" tIns="0" rIns="0" bIns="0" rtlCol="0" anchor="ctr"/>
          <a:lstStyle/>
          <a:p>
            <a:pPr marL="0" indent="0">
              <a:buNone/>
            </a:pPr>
            <a:r>
              <a:rPr lang="en-US" sz="1350" dirty="0">
                <a:ea typeface="Calibri" pitchFamily="34" charset="-122"/>
                <a:cs typeface="Calibri" pitchFamily="34" charset="-120"/>
              </a:rPr>
              <a:t>Dữ liệu tức thời + nhật ký mọi thao tác</a:t>
            </a:r>
            <a:endParaRPr lang="en-US" sz="1350" dirty="0"/>
          </a:p>
        </p:txBody>
      </p:sp>
      <p:pic>
        <p:nvPicPr>
          <p:cNvPr id="25" name="UIT Logo Mark" descr="UIT logo">
            <a:extLst>
              <a:ext uri="{FF2B5EF4-FFF2-40B4-BE49-F238E27FC236}">
                <a16:creationId xmlns:a16="http://schemas.microsoft.com/office/drawing/2014/main" id="{3F077FB0-703A-FD9F-B10D-C34937415D2E}"/>
              </a:ext>
            </a:extLst>
          </p:cNvPr>
          <p:cNvPicPr>
            <a:picLocks noChangeAspect="1"/>
          </p:cNvPicPr>
          <p:nvPr/>
        </p:nvPicPr>
        <p:blipFill>
          <a:blip r:embed="rId7"/>
          <a:stretch>
            <a:fillRect/>
          </a:stretch>
        </p:blipFill>
        <p:spPr>
          <a:xfrm>
            <a:off x="-4240" y="0"/>
            <a:ext cx="3104804" cy="822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09210"/>
            <a:ext cx="11091672" cy="640080"/>
          </a:xfrm>
          <a:prstGeom prst="rect">
            <a:avLst/>
          </a:prstGeom>
          <a:noFill/>
          <a:ln/>
        </p:spPr>
        <p:txBody>
          <a:bodyPr wrap="square" lIns="0" tIns="0" rIns="0" bIns="0" rtlCol="0" anchor="ctr"/>
          <a:lstStyle/>
          <a:p>
            <a:pPr marL="0" indent="0" algn="ctr">
              <a:buNone/>
            </a:pPr>
            <a:r>
              <a:rPr lang="en-US" sz="2800" b="1" dirty="0">
                <a:ea typeface="Cambria" pitchFamily="34" charset="-122"/>
                <a:cs typeface="Cambria" pitchFamily="34" charset="-120"/>
              </a:rPr>
              <a:t>Công nghệ sử dụng</a:t>
            </a:r>
            <a:endParaRPr lang="en-US" sz="2800" dirty="0"/>
          </a:p>
        </p:txBody>
      </p:sp>
      <p:sp>
        <p:nvSpPr>
          <p:cNvPr id="3" name="Shape 1"/>
          <p:cNvSpPr/>
          <p:nvPr/>
        </p:nvSpPr>
        <p:spPr>
          <a:xfrm>
            <a:off x="548640" y="1188720"/>
            <a:ext cx="3520440" cy="2514600"/>
          </a:xfrm>
          <a:prstGeom prst="roundRect">
            <a:avLst>
              <a:gd name="adj" fmla="val 4364"/>
            </a:avLst>
          </a:prstGeom>
          <a:solidFill>
            <a:srgbClr val="1836B2"/>
          </a:solidFill>
          <a:ln/>
        </p:spPr>
        <p:txBody>
          <a:bodyPr/>
          <a:lstStyle/>
          <a:p>
            <a:endParaRPr lang="vi-VN"/>
          </a:p>
        </p:txBody>
      </p:sp>
      <p:sp>
        <p:nvSpPr>
          <p:cNvPr id="4" name="Shape 2"/>
          <p:cNvSpPr/>
          <p:nvPr/>
        </p:nvSpPr>
        <p:spPr>
          <a:xfrm>
            <a:off x="1874520" y="1481328"/>
            <a:ext cx="868680" cy="868680"/>
          </a:xfrm>
          <a:prstGeom prst="ellipse">
            <a:avLst/>
          </a:prstGeom>
          <a:solidFill>
            <a:srgbClr val="2F3C7E"/>
          </a:solidFill>
          <a:ln/>
        </p:spPr>
        <p:txBody>
          <a:bodyPr/>
          <a:lstStyle/>
          <a:p>
            <a:endParaRPr lang="vi-VN"/>
          </a:p>
        </p:txBody>
      </p:sp>
      <p:pic>
        <p:nvPicPr>
          <p:cNvPr id="5" name="Image 0" descr="preencoded.png"/>
          <p:cNvPicPr>
            <a:picLocks noChangeAspect="1"/>
          </p:cNvPicPr>
          <p:nvPr/>
        </p:nvPicPr>
        <p:blipFill>
          <a:blip r:embed="rId3"/>
          <a:stretch>
            <a:fillRect/>
          </a:stretch>
        </p:blipFill>
        <p:spPr>
          <a:xfrm>
            <a:off x="2083003" y="1689811"/>
            <a:ext cx="451714" cy="451714"/>
          </a:xfrm>
          <a:prstGeom prst="rect">
            <a:avLst/>
          </a:prstGeom>
        </p:spPr>
      </p:pic>
      <p:sp>
        <p:nvSpPr>
          <p:cNvPr id="6" name="Text 3"/>
          <p:cNvSpPr/>
          <p:nvPr/>
        </p:nvSpPr>
        <p:spPr>
          <a:xfrm>
            <a:off x="548640" y="2450592"/>
            <a:ext cx="3520440" cy="457200"/>
          </a:xfrm>
          <a:prstGeom prst="rect">
            <a:avLst/>
          </a:prstGeom>
          <a:noFill/>
          <a:ln/>
        </p:spPr>
        <p:txBody>
          <a:bodyPr wrap="square" rtlCol="0" anchor="ctr"/>
          <a:lstStyle/>
          <a:p>
            <a:pPr marL="0" indent="0" algn="ctr">
              <a:buNone/>
            </a:pPr>
            <a:r>
              <a:rPr lang="en-US" sz="1900" b="1" dirty="0">
                <a:solidFill>
                  <a:schemeClr val="bg1"/>
                </a:solidFill>
                <a:ea typeface="Cambria" pitchFamily="34" charset="-122"/>
                <a:cs typeface="Cambria" pitchFamily="34" charset="-120"/>
              </a:rPr>
              <a:t>Python 3</a:t>
            </a:r>
            <a:endParaRPr lang="en-US" sz="1900" dirty="0">
              <a:solidFill>
                <a:schemeClr val="bg1"/>
              </a:solidFill>
            </a:endParaRPr>
          </a:p>
        </p:txBody>
      </p:sp>
      <p:sp>
        <p:nvSpPr>
          <p:cNvPr id="7" name="Text 4"/>
          <p:cNvSpPr/>
          <p:nvPr/>
        </p:nvSpPr>
        <p:spPr>
          <a:xfrm>
            <a:off x="822960" y="2880360"/>
            <a:ext cx="2971800" cy="777240"/>
          </a:xfrm>
          <a:prstGeom prst="rect">
            <a:avLst/>
          </a:prstGeom>
          <a:noFill/>
          <a:ln/>
        </p:spPr>
        <p:txBody>
          <a:bodyPr wrap="square" rtlCol="0" anchor="ctr"/>
          <a:lstStyle/>
          <a:p>
            <a:pPr marL="0" indent="0" algn="ctr">
              <a:buNone/>
            </a:pPr>
            <a:r>
              <a:rPr lang="en-US" sz="1300" dirty="0">
                <a:solidFill>
                  <a:schemeClr val="bg1"/>
                </a:solidFill>
                <a:ea typeface="Calibri" pitchFamily="34" charset="-122"/>
                <a:cs typeface="Calibri" pitchFamily="34" charset="-120"/>
              </a:rPr>
              <a:t>Ngôn ngữ chính — xử lý logic, tính toán, điều phối</a:t>
            </a:r>
            <a:endParaRPr lang="en-US" sz="1300" dirty="0">
              <a:solidFill>
                <a:schemeClr val="bg1"/>
              </a:solidFill>
            </a:endParaRPr>
          </a:p>
        </p:txBody>
      </p:sp>
      <p:sp>
        <p:nvSpPr>
          <p:cNvPr id="8" name="Shape 5"/>
          <p:cNvSpPr/>
          <p:nvPr/>
        </p:nvSpPr>
        <p:spPr>
          <a:xfrm>
            <a:off x="4343400" y="1188720"/>
            <a:ext cx="3520440" cy="2514600"/>
          </a:xfrm>
          <a:prstGeom prst="roundRect">
            <a:avLst>
              <a:gd name="adj" fmla="val 4364"/>
            </a:avLst>
          </a:prstGeom>
          <a:solidFill>
            <a:srgbClr val="1836B2"/>
          </a:solidFill>
          <a:ln/>
        </p:spPr>
        <p:txBody>
          <a:bodyPr/>
          <a:lstStyle/>
          <a:p>
            <a:endParaRPr lang="vi-VN"/>
          </a:p>
        </p:txBody>
      </p:sp>
      <p:sp>
        <p:nvSpPr>
          <p:cNvPr id="9" name="Shape 6"/>
          <p:cNvSpPr/>
          <p:nvPr/>
        </p:nvSpPr>
        <p:spPr>
          <a:xfrm>
            <a:off x="5669280" y="1481328"/>
            <a:ext cx="868680" cy="868680"/>
          </a:xfrm>
          <a:prstGeom prst="ellipse">
            <a:avLst/>
          </a:prstGeom>
          <a:solidFill>
            <a:srgbClr val="2F3C7E"/>
          </a:solidFill>
          <a:ln/>
        </p:spPr>
        <p:txBody>
          <a:bodyPr/>
          <a:lstStyle/>
          <a:p>
            <a:endParaRPr lang="vi-VN"/>
          </a:p>
        </p:txBody>
      </p:sp>
      <p:pic>
        <p:nvPicPr>
          <p:cNvPr id="10" name="Image 1" descr="preencoded.png"/>
          <p:cNvPicPr>
            <a:picLocks noChangeAspect="1"/>
          </p:cNvPicPr>
          <p:nvPr/>
        </p:nvPicPr>
        <p:blipFill>
          <a:blip r:embed="rId4"/>
          <a:stretch>
            <a:fillRect/>
          </a:stretch>
        </p:blipFill>
        <p:spPr>
          <a:xfrm>
            <a:off x="5877763" y="1689811"/>
            <a:ext cx="451714" cy="451714"/>
          </a:xfrm>
          <a:prstGeom prst="rect">
            <a:avLst/>
          </a:prstGeom>
        </p:spPr>
      </p:pic>
      <p:sp>
        <p:nvSpPr>
          <p:cNvPr id="11" name="Text 7"/>
          <p:cNvSpPr/>
          <p:nvPr/>
        </p:nvSpPr>
        <p:spPr>
          <a:xfrm>
            <a:off x="4343400" y="2450592"/>
            <a:ext cx="3520440" cy="457200"/>
          </a:xfrm>
          <a:prstGeom prst="rect">
            <a:avLst/>
          </a:prstGeom>
          <a:noFill/>
          <a:ln/>
        </p:spPr>
        <p:txBody>
          <a:bodyPr wrap="square" rtlCol="0" anchor="ctr"/>
          <a:lstStyle/>
          <a:p>
            <a:pPr marL="0" indent="0" algn="ctr">
              <a:buNone/>
            </a:pPr>
            <a:r>
              <a:rPr lang="en-US" sz="1900" b="1" dirty="0">
                <a:solidFill>
                  <a:schemeClr val="bg1"/>
                </a:solidFill>
                <a:ea typeface="Cambria" pitchFamily="34" charset="-122"/>
                <a:cs typeface="Cambria" pitchFamily="34" charset="-120"/>
              </a:rPr>
              <a:t>Tkinter</a:t>
            </a:r>
            <a:endParaRPr lang="en-US" sz="1900" dirty="0">
              <a:solidFill>
                <a:schemeClr val="bg1"/>
              </a:solidFill>
            </a:endParaRPr>
          </a:p>
        </p:txBody>
      </p:sp>
      <p:sp>
        <p:nvSpPr>
          <p:cNvPr id="12" name="Text 8"/>
          <p:cNvSpPr/>
          <p:nvPr/>
        </p:nvSpPr>
        <p:spPr>
          <a:xfrm>
            <a:off x="4617720" y="2880360"/>
            <a:ext cx="2971800" cy="777240"/>
          </a:xfrm>
          <a:prstGeom prst="rect">
            <a:avLst/>
          </a:prstGeom>
          <a:noFill/>
          <a:ln/>
        </p:spPr>
        <p:txBody>
          <a:bodyPr wrap="square" rtlCol="0" anchor="ctr"/>
          <a:lstStyle/>
          <a:p>
            <a:pPr marL="0" indent="0" algn="ctr">
              <a:buNone/>
            </a:pPr>
            <a:r>
              <a:rPr lang="en-US" sz="1300" dirty="0">
                <a:solidFill>
                  <a:schemeClr val="bg1"/>
                </a:solidFill>
                <a:ea typeface="Calibri" pitchFamily="34" charset="-122"/>
                <a:cs typeface="Calibri" pitchFamily="34" charset="-120"/>
              </a:rPr>
              <a:t>GUI có sẵn: Notebook, Treeview, Combobox, messagebox</a:t>
            </a:r>
            <a:endParaRPr lang="en-US" sz="1300" dirty="0">
              <a:solidFill>
                <a:schemeClr val="bg1"/>
              </a:solidFill>
            </a:endParaRPr>
          </a:p>
        </p:txBody>
      </p:sp>
      <p:sp>
        <p:nvSpPr>
          <p:cNvPr id="13" name="Shape 9"/>
          <p:cNvSpPr/>
          <p:nvPr/>
        </p:nvSpPr>
        <p:spPr>
          <a:xfrm>
            <a:off x="8138160" y="1188720"/>
            <a:ext cx="3520440" cy="2514600"/>
          </a:xfrm>
          <a:prstGeom prst="roundRect">
            <a:avLst>
              <a:gd name="adj" fmla="val 4364"/>
            </a:avLst>
          </a:prstGeom>
          <a:solidFill>
            <a:srgbClr val="1836B2"/>
          </a:solidFill>
          <a:ln/>
        </p:spPr>
        <p:txBody>
          <a:bodyPr/>
          <a:lstStyle/>
          <a:p>
            <a:endParaRPr lang="vi-VN"/>
          </a:p>
        </p:txBody>
      </p:sp>
      <p:sp>
        <p:nvSpPr>
          <p:cNvPr id="14" name="Shape 10"/>
          <p:cNvSpPr/>
          <p:nvPr/>
        </p:nvSpPr>
        <p:spPr>
          <a:xfrm>
            <a:off x="9464040" y="1481328"/>
            <a:ext cx="868680" cy="868680"/>
          </a:xfrm>
          <a:prstGeom prst="ellipse">
            <a:avLst/>
          </a:prstGeom>
          <a:solidFill>
            <a:srgbClr val="2F3C7E"/>
          </a:solidFill>
          <a:ln/>
        </p:spPr>
        <p:txBody>
          <a:bodyPr/>
          <a:lstStyle/>
          <a:p>
            <a:endParaRPr lang="vi-VN"/>
          </a:p>
        </p:txBody>
      </p:sp>
      <p:pic>
        <p:nvPicPr>
          <p:cNvPr id="15" name="Image 2" descr="preencoded.png"/>
          <p:cNvPicPr>
            <a:picLocks noChangeAspect="1"/>
          </p:cNvPicPr>
          <p:nvPr/>
        </p:nvPicPr>
        <p:blipFill>
          <a:blip r:embed="rId5"/>
          <a:stretch>
            <a:fillRect/>
          </a:stretch>
        </p:blipFill>
        <p:spPr>
          <a:xfrm>
            <a:off x="9672523" y="1689811"/>
            <a:ext cx="451714" cy="451714"/>
          </a:xfrm>
          <a:prstGeom prst="rect">
            <a:avLst/>
          </a:prstGeom>
        </p:spPr>
      </p:pic>
      <p:sp>
        <p:nvSpPr>
          <p:cNvPr id="16" name="Text 11"/>
          <p:cNvSpPr/>
          <p:nvPr/>
        </p:nvSpPr>
        <p:spPr>
          <a:xfrm>
            <a:off x="8138160" y="2450592"/>
            <a:ext cx="3520440" cy="457200"/>
          </a:xfrm>
          <a:prstGeom prst="rect">
            <a:avLst/>
          </a:prstGeom>
          <a:noFill/>
          <a:ln/>
        </p:spPr>
        <p:txBody>
          <a:bodyPr wrap="square" rtlCol="0" anchor="ctr"/>
          <a:lstStyle/>
          <a:p>
            <a:pPr marL="0" indent="0" algn="ctr">
              <a:buNone/>
            </a:pPr>
            <a:r>
              <a:rPr lang="en-US" sz="1900" b="1" dirty="0">
                <a:solidFill>
                  <a:schemeClr val="bg1"/>
                </a:solidFill>
                <a:ea typeface="Cambria" pitchFamily="34" charset="-122"/>
                <a:cs typeface="Cambria" pitchFamily="34" charset="-120"/>
              </a:rPr>
              <a:t>SQLite</a:t>
            </a:r>
            <a:endParaRPr lang="en-US" sz="1900" dirty="0">
              <a:solidFill>
                <a:schemeClr val="bg1"/>
              </a:solidFill>
            </a:endParaRPr>
          </a:p>
        </p:txBody>
      </p:sp>
      <p:sp>
        <p:nvSpPr>
          <p:cNvPr id="17" name="Text 12"/>
          <p:cNvSpPr/>
          <p:nvPr/>
        </p:nvSpPr>
        <p:spPr>
          <a:xfrm>
            <a:off x="8412480" y="2880360"/>
            <a:ext cx="2971800" cy="777240"/>
          </a:xfrm>
          <a:prstGeom prst="rect">
            <a:avLst/>
          </a:prstGeom>
          <a:noFill/>
          <a:ln/>
        </p:spPr>
        <p:txBody>
          <a:bodyPr wrap="square" rtlCol="0" anchor="ctr"/>
          <a:lstStyle/>
          <a:p>
            <a:pPr marL="0" indent="0" algn="ctr">
              <a:buNone/>
            </a:pPr>
            <a:r>
              <a:rPr lang="en-US" sz="1300" dirty="0">
                <a:solidFill>
                  <a:schemeClr val="bg1"/>
                </a:solidFill>
                <a:ea typeface="Calibri" pitchFamily="34" charset="-122"/>
                <a:cs typeface="Calibri" pitchFamily="34" charset="-120"/>
              </a:rPr>
              <a:t>1 file gym.db, khóa ngoại bật, truy vấn tham số hóa</a:t>
            </a:r>
            <a:endParaRPr lang="en-US" sz="1300" dirty="0">
              <a:solidFill>
                <a:schemeClr val="bg1"/>
              </a:solidFill>
            </a:endParaRPr>
          </a:p>
        </p:txBody>
      </p:sp>
      <p:sp>
        <p:nvSpPr>
          <p:cNvPr id="18" name="Shape 13"/>
          <p:cNvSpPr/>
          <p:nvPr/>
        </p:nvSpPr>
        <p:spPr>
          <a:xfrm>
            <a:off x="548640" y="3977640"/>
            <a:ext cx="11091672" cy="2148840"/>
          </a:xfrm>
          <a:prstGeom prst="roundRect">
            <a:avLst>
              <a:gd name="adj" fmla="val 5106"/>
            </a:avLst>
          </a:prstGeom>
          <a:solidFill>
            <a:srgbClr val="F5F6FA"/>
          </a:solidFill>
          <a:ln/>
        </p:spPr>
        <p:txBody>
          <a:bodyPr/>
          <a:lstStyle/>
          <a:p>
            <a:endParaRPr lang="vi-VN" dirty="0"/>
          </a:p>
        </p:txBody>
      </p:sp>
      <p:sp>
        <p:nvSpPr>
          <p:cNvPr id="19" name="Text 14"/>
          <p:cNvSpPr/>
          <p:nvPr/>
        </p:nvSpPr>
        <p:spPr>
          <a:xfrm>
            <a:off x="868680" y="4187952"/>
            <a:ext cx="4572000" cy="411480"/>
          </a:xfrm>
          <a:prstGeom prst="rect">
            <a:avLst/>
          </a:prstGeom>
          <a:noFill/>
          <a:ln/>
        </p:spPr>
        <p:txBody>
          <a:bodyPr wrap="square" lIns="0" tIns="0" rIns="0" bIns="0" rtlCol="0" anchor="ctr"/>
          <a:lstStyle/>
          <a:p>
            <a:pPr marL="0" indent="0">
              <a:buNone/>
            </a:pPr>
            <a:r>
              <a:rPr lang="en-US" sz="1700" b="1" dirty="0">
                <a:ea typeface="Cambria" pitchFamily="34" charset="-122"/>
                <a:cs typeface="Cambria" pitchFamily="34" charset="-120"/>
              </a:rPr>
              <a:t>Kiến trúc phân lớp</a:t>
            </a:r>
            <a:endParaRPr lang="en-US" sz="1700" dirty="0"/>
          </a:p>
        </p:txBody>
      </p:sp>
      <p:sp>
        <p:nvSpPr>
          <p:cNvPr id="20" name="Text 15"/>
          <p:cNvSpPr/>
          <p:nvPr/>
        </p:nvSpPr>
        <p:spPr>
          <a:xfrm>
            <a:off x="868680" y="4645152"/>
            <a:ext cx="10451592" cy="457200"/>
          </a:xfrm>
          <a:prstGeom prst="rect">
            <a:avLst/>
          </a:prstGeom>
          <a:noFill/>
          <a:ln/>
        </p:spPr>
        <p:txBody>
          <a:bodyPr wrap="square" lIns="0" tIns="0" rIns="0" bIns="0" rtlCol="0" anchor="ctr"/>
          <a:lstStyle/>
          <a:p>
            <a:pPr marL="0" indent="0">
              <a:buNone/>
            </a:pPr>
            <a:r>
              <a:rPr lang="en-US" sz="1500" b="1" dirty="0">
                <a:ea typeface="Calibri" pitchFamily="34" charset="-122"/>
                <a:cs typeface="Calibri" pitchFamily="34" charset="-120"/>
              </a:rPr>
              <a:t>main.py</a:t>
            </a:r>
            <a:r>
              <a:rPr lang="en-US" sz="1500" dirty="0">
                <a:ea typeface="Calibri" pitchFamily="34" charset="-122"/>
                <a:cs typeface="Calibri" pitchFamily="34" charset="-120"/>
              </a:rPr>
              <a:t>  — giao diện, chỉ hiển thị &amp; gọi hàm   →   </a:t>
            </a:r>
            <a:r>
              <a:rPr lang="en-US" sz="1500" b="1" dirty="0">
                <a:ea typeface="Calibri" pitchFamily="34" charset="-122"/>
                <a:cs typeface="Calibri" pitchFamily="34" charset="-120"/>
              </a:rPr>
              <a:t>database.py</a:t>
            </a:r>
            <a:r>
              <a:rPr lang="en-US" sz="1500" dirty="0">
                <a:ea typeface="Calibri" pitchFamily="34" charset="-122"/>
                <a:cs typeface="Calibri" pitchFamily="34" charset="-120"/>
              </a:rPr>
              <a:t>  — toàn bộ SQL &amp; logic nghiệp vụ</a:t>
            </a:r>
            <a:endParaRPr lang="en-US" sz="1500" dirty="0"/>
          </a:p>
        </p:txBody>
      </p:sp>
      <p:sp>
        <p:nvSpPr>
          <p:cNvPr id="21" name="Text 16"/>
          <p:cNvSpPr/>
          <p:nvPr/>
        </p:nvSpPr>
        <p:spPr>
          <a:xfrm>
            <a:off x="868680" y="5120640"/>
            <a:ext cx="10451592" cy="822960"/>
          </a:xfrm>
          <a:prstGeom prst="rect">
            <a:avLst/>
          </a:prstGeom>
          <a:noFill/>
          <a:ln/>
        </p:spPr>
        <p:txBody>
          <a:bodyPr wrap="square" lIns="0" tIns="0" rIns="0" bIns="0" rtlCol="0" anchor="ctr"/>
          <a:lstStyle/>
          <a:p>
            <a:pPr marL="0" indent="0">
              <a:buNone/>
            </a:pPr>
            <a:r>
              <a:rPr lang="en-US" sz="1300" dirty="0">
                <a:ea typeface="Calibri" pitchFamily="34" charset="-122"/>
                <a:cs typeface="Calibri" pitchFamily="34" charset="-120"/>
              </a:rPr>
              <a:t>Tách lớp giúp kiểm thử độc lập tầng dữ liệu bằng dòng lệnh trước khi ghép giao diện — mọi lỗi logic được bắt sớm.</a:t>
            </a:r>
            <a:endParaRPr lang="en-US" sz="1300" dirty="0"/>
          </a:p>
        </p:txBody>
      </p:sp>
      <p:pic>
        <p:nvPicPr>
          <p:cNvPr id="24" name="UIT Logo Mark" descr="UIT logo">
            <a:extLst>
              <a:ext uri="{FF2B5EF4-FFF2-40B4-BE49-F238E27FC236}">
                <a16:creationId xmlns:a16="http://schemas.microsoft.com/office/drawing/2014/main" id="{F35E17B3-AEB7-8AE6-1228-0CBE77472939}"/>
              </a:ext>
            </a:extLst>
          </p:cNvPr>
          <p:cNvPicPr>
            <a:picLocks noChangeAspect="1"/>
          </p:cNvPicPr>
          <p:nvPr/>
        </p:nvPicPr>
        <p:blipFill>
          <a:blip r:embed="rId6"/>
          <a:stretch>
            <a:fillRect/>
          </a:stretch>
        </p:blipFill>
        <p:spPr>
          <a:xfrm>
            <a:off x="-4240" y="0"/>
            <a:ext cx="3104804" cy="822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40080"/>
          </a:xfrm>
          <a:prstGeom prst="rect">
            <a:avLst/>
          </a:prstGeom>
          <a:noFill/>
          <a:ln/>
        </p:spPr>
        <p:txBody>
          <a:bodyPr wrap="square" lIns="0" tIns="0" rIns="0" bIns="0" rtlCol="0" anchor="ctr"/>
          <a:lstStyle/>
          <a:p>
            <a:pPr marL="0" indent="0" algn="ctr">
              <a:buNone/>
            </a:pPr>
            <a:r>
              <a:rPr lang="en-US" sz="2800" b="1" dirty="0">
                <a:latin typeface="Cambria" pitchFamily="34" charset="0"/>
                <a:ea typeface="Cambria" pitchFamily="34" charset="-122"/>
                <a:cs typeface="Cambria" pitchFamily="34" charset="-120"/>
              </a:rPr>
              <a:t>		</a:t>
            </a:r>
            <a:r>
              <a:rPr lang="en-US" sz="2800" b="1" dirty="0" err="1">
                <a:latin typeface="Cambria" pitchFamily="34" charset="0"/>
                <a:ea typeface="Cambria" pitchFamily="34" charset="-122"/>
                <a:cs typeface="Cambria" pitchFamily="34" charset="-120"/>
              </a:rPr>
              <a:t>Thiết</a:t>
            </a:r>
            <a:r>
              <a:rPr lang="en-US" sz="2800" b="1" dirty="0">
                <a:latin typeface="Cambria" pitchFamily="34" charset="0"/>
                <a:ea typeface="Cambria" pitchFamily="34" charset="-122"/>
                <a:cs typeface="Cambria" pitchFamily="34" charset="-120"/>
              </a:rPr>
              <a:t> kế CSDL — 10 bảng, quan hệ khóa ngoại</a:t>
            </a:r>
            <a:endParaRPr lang="en-US" sz="2800" dirty="0"/>
          </a:p>
        </p:txBody>
      </p:sp>
      <p:sp>
        <p:nvSpPr>
          <p:cNvPr id="4" name="Text 2"/>
          <p:cNvSpPr/>
          <p:nvPr/>
        </p:nvSpPr>
        <p:spPr>
          <a:xfrm>
            <a:off x="4892040" y="2670048"/>
            <a:ext cx="2377440" cy="457200"/>
          </a:xfrm>
          <a:prstGeom prst="rect">
            <a:avLst/>
          </a:prstGeom>
          <a:noFill/>
          <a:ln/>
        </p:spPr>
        <p:txBody>
          <a:bodyPr wrap="square" rtlCol="0" anchor="ctr"/>
          <a:lstStyle/>
          <a:p>
            <a:pPr marL="0" indent="0" algn="ctr">
              <a:buNone/>
            </a:pPr>
            <a:endParaRPr lang="en-US" sz="1600" dirty="0"/>
          </a:p>
        </p:txBody>
      </p:sp>
      <p:sp>
        <p:nvSpPr>
          <p:cNvPr id="5" name="Text 3"/>
          <p:cNvSpPr/>
          <p:nvPr/>
        </p:nvSpPr>
        <p:spPr>
          <a:xfrm>
            <a:off x="4892040" y="3090672"/>
            <a:ext cx="2377440" cy="365760"/>
          </a:xfrm>
          <a:prstGeom prst="rect">
            <a:avLst/>
          </a:prstGeom>
          <a:noFill/>
          <a:ln/>
        </p:spPr>
        <p:txBody>
          <a:bodyPr wrap="square" rtlCol="0" anchor="ctr"/>
          <a:lstStyle/>
          <a:p>
            <a:pPr marL="0" indent="0" algn="ctr">
              <a:buNone/>
            </a:pPr>
            <a:endParaRPr lang="en-US" sz="1100" dirty="0"/>
          </a:p>
        </p:txBody>
      </p:sp>
      <p:sp>
        <p:nvSpPr>
          <p:cNvPr id="13" name="Text 11"/>
          <p:cNvSpPr/>
          <p:nvPr/>
        </p:nvSpPr>
        <p:spPr>
          <a:xfrm>
            <a:off x="914400" y="1389888"/>
            <a:ext cx="2377440" cy="41148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hoi_vien</a:t>
            </a:r>
            <a:endParaRPr lang="en-US" sz="1350" dirty="0"/>
          </a:p>
        </p:txBody>
      </p:sp>
      <p:sp>
        <p:nvSpPr>
          <p:cNvPr id="15" name="Text 13"/>
          <p:cNvSpPr/>
          <p:nvPr/>
        </p:nvSpPr>
        <p:spPr>
          <a:xfrm>
            <a:off x="4892040" y="1207008"/>
            <a:ext cx="2377440" cy="41148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goi_tap</a:t>
            </a:r>
            <a:endParaRPr lang="en-US" sz="1350" dirty="0"/>
          </a:p>
        </p:txBody>
      </p:sp>
      <p:sp>
        <p:nvSpPr>
          <p:cNvPr id="17" name="Text 15"/>
          <p:cNvSpPr/>
          <p:nvPr/>
        </p:nvSpPr>
        <p:spPr>
          <a:xfrm>
            <a:off x="8869680" y="1389888"/>
            <a:ext cx="2377440" cy="41148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nhan_vien</a:t>
            </a:r>
            <a:endParaRPr lang="en-US" sz="1350" dirty="0"/>
          </a:p>
        </p:txBody>
      </p:sp>
      <p:sp>
        <p:nvSpPr>
          <p:cNvPr id="19" name="Text 17"/>
          <p:cNvSpPr/>
          <p:nvPr/>
        </p:nvSpPr>
        <p:spPr>
          <a:xfrm>
            <a:off x="914400" y="4133088"/>
            <a:ext cx="2377440" cy="41148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diem_danh</a:t>
            </a:r>
            <a:endParaRPr lang="en-US" sz="1350" dirty="0"/>
          </a:p>
        </p:txBody>
      </p:sp>
      <p:sp>
        <p:nvSpPr>
          <p:cNvPr id="21" name="Text 19"/>
          <p:cNvSpPr/>
          <p:nvPr/>
        </p:nvSpPr>
        <p:spPr>
          <a:xfrm>
            <a:off x="4892040" y="4864608"/>
            <a:ext cx="2377440" cy="411480"/>
          </a:xfrm>
          <a:prstGeom prst="rect">
            <a:avLst/>
          </a:prstGeom>
          <a:noFill/>
          <a:ln/>
        </p:spPr>
        <p:txBody>
          <a:bodyPr wrap="square" rtlCol="0" anchor="ctr"/>
          <a:lstStyle/>
          <a:p>
            <a:pPr marL="0" indent="0" algn="ctr">
              <a:buNone/>
            </a:pPr>
            <a:endParaRPr lang="en-US" sz="1350" dirty="0"/>
          </a:p>
        </p:txBody>
      </p:sp>
      <p:sp>
        <p:nvSpPr>
          <p:cNvPr id="23" name="Text 21"/>
          <p:cNvSpPr/>
          <p:nvPr/>
        </p:nvSpPr>
        <p:spPr>
          <a:xfrm>
            <a:off x="8869680" y="4133088"/>
            <a:ext cx="2377440" cy="411480"/>
          </a:xfrm>
          <a:prstGeom prst="rect">
            <a:avLst/>
          </a:prstGeom>
          <a:noFill/>
          <a:ln/>
        </p:spPr>
        <p:txBody>
          <a:bodyPr wrap="square" rtlCol="0" anchor="ctr"/>
          <a:lstStyle/>
          <a:p>
            <a:pPr marL="0" indent="0" algn="ctr">
              <a:buNone/>
            </a:pPr>
            <a:endParaRPr lang="en-US" sz="1350" dirty="0"/>
          </a:p>
        </p:txBody>
      </p:sp>
      <p:sp>
        <p:nvSpPr>
          <p:cNvPr id="25" name="Text 23"/>
          <p:cNvSpPr/>
          <p:nvPr/>
        </p:nvSpPr>
        <p:spPr>
          <a:xfrm>
            <a:off x="2743200" y="5687568"/>
            <a:ext cx="2148840" cy="411480"/>
          </a:xfrm>
          <a:prstGeom prst="rect">
            <a:avLst/>
          </a:prstGeom>
          <a:noFill/>
          <a:ln/>
        </p:spPr>
        <p:txBody>
          <a:bodyPr wrap="square" rtlCol="0" anchor="ctr"/>
          <a:lstStyle/>
          <a:p>
            <a:pPr marL="0" indent="0" algn="ctr">
              <a:buNone/>
            </a:pPr>
            <a:endParaRPr lang="en-US" sz="1200" dirty="0"/>
          </a:p>
        </p:txBody>
      </p:sp>
      <p:sp>
        <p:nvSpPr>
          <p:cNvPr id="27" name="Text 25"/>
          <p:cNvSpPr/>
          <p:nvPr/>
        </p:nvSpPr>
        <p:spPr>
          <a:xfrm>
            <a:off x="5166360" y="5687568"/>
            <a:ext cx="2148840" cy="411480"/>
          </a:xfrm>
          <a:prstGeom prst="rect">
            <a:avLst/>
          </a:prstGeom>
          <a:noFill/>
          <a:ln/>
        </p:spPr>
        <p:txBody>
          <a:bodyPr wrap="square" rtlCol="0" anchor="ctr"/>
          <a:lstStyle/>
          <a:p>
            <a:pPr marL="0" indent="0" algn="ctr">
              <a:buNone/>
            </a:pPr>
            <a:endParaRPr lang="en-US" sz="1200" dirty="0"/>
          </a:p>
        </p:txBody>
      </p:sp>
      <p:sp>
        <p:nvSpPr>
          <p:cNvPr id="29" name="Text 27"/>
          <p:cNvSpPr/>
          <p:nvPr/>
        </p:nvSpPr>
        <p:spPr>
          <a:xfrm>
            <a:off x="7589520" y="5687568"/>
            <a:ext cx="2148840" cy="411480"/>
          </a:xfrm>
          <a:prstGeom prst="rect">
            <a:avLst/>
          </a:prstGeom>
          <a:noFill/>
          <a:ln/>
        </p:spPr>
        <p:txBody>
          <a:bodyPr wrap="square" rtlCol="0" anchor="ctr"/>
          <a:lstStyle/>
          <a:p>
            <a:pPr marL="0" indent="0" algn="ctr">
              <a:buNone/>
            </a:pPr>
            <a:endParaRPr lang="en-US" sz="1200" dirty="0"/>
          </a:p>
        </p:txBody>
      </p:sp>
      <p:pic>
        <p:nvPicPr>
          <p:cNvPr id="32" name="UIT Logo Mark" descr="UIT logo">
            <a:extLst>
              <a:ext uri="{FF2B5EF4-FFF2-40B4-BE49-F238E27FC236}">
                <a16:creationId xmlns:a16="http://schemas.microsoft.com/office/drawing/2014/main" id="{9D8D7EF5-7A3C-EEEE-18CB-6253733396EC}"/>
              </a:ext>
            </a:extLst>
          </p:cNvPr>
          <p:cNvPicPr>
            <a:picLocks noChangeAspect="1"/>
          </p:cNvPicPr>
          <p:nvPr/>
        </p:nvPicPr>
        <p:blipFill>
          <a:blip r:embed="rId3"/>
          <a:stretch>
            <a:fillRect/>
          </a:stretch>
        </p:blipFill>
        <p:spPr>
          <a:xfrm>
            <a:off x="-4240" y="0"/>
            <a:ext cx="3104804" cy="822960"/>
          </a:xfrm>
          <a:prstGeom prst="rect">
            <a:avLst/>
          </a:prstGeom>
        </p:spPr>
      </p:pic>
      <p:pic>
        <p:nvPicPr>
          <p:cNvPr id="34" name="Picture 33">
            <a:extLst>
              <a:ext uri="{FF2B5EF4-FFF2-40B4-BE49-F238E27FC236}">
                <a16:creationId xmlns:a16="http://schemas.microsoft.com/office/drawing/2014/main" id="{9B34A798-F518-9898-02AE-FD8BB14A2FD8}"/>
              </a:ext>
            </a:extLst>
          </p:cNvPr>
          <p:cNvPicPr>
            <a:picLocks noChangeAspect="1"/>
          </p:cNvPicPr>
          <p:nvPr/>
        </p:nvPicPr>
        <p:blipFill>
          <a:blip r:embed="rId4"/>
          <a:stretch>
            <a:fillRect/>
          </a:stretch>
        </p:blipFill>
        <p:spPr>
          <a:xfrm>
            <a:off x="513156" y="993073"/>
            <a:ext cx="10764444" cy="56907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22B5C"/>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ctr">
              <a:buNone/>
            </a:pPr>
            <a:r>
              <a:rPr lang="en-US" sz="2600" b="1" dirty="0">
                <a:solidFill>
                  <a:schemeClr val="bg1"/>
                </a:solidFill>
                <a:ea typeface="Cambria" pitchFamily="34" charset="-122"/>
                <a:cs typeface="Cambria" pitchFamily="34" charset="-120"/>
              </a:rPr>
              <a:t>		</a:t>
            </a:r>
            <a:r>
              <a:rPr lang="en-US" sz="2600" b="1" dirty="0" err="1">
                <a:solidFill>
                  <a:schemeClr val="bg1"/>
                </a:solidFill>
                <a:ea typeface="Cambria" pitchFamily="34" charset="-122"/>
                <a:cs typeface="Cambria" pitchFamily="34" charset="-120"/>
              </a:rPr>
              <a:t>Luồng</a:t>
            </a:r>
            <a:r>
              <a:rPr lang="en-US" sz="2600" b="1" dirty="0">
                <a:solidFill>
                  <a:schemeClr val="bg1"/>
                </a:solidFill>
                <a:ea typeface="Cambria" pitchFamily="34" charset="-122"/>
                <a:cs typeface="Cambria" pitchFamily="34" charset="-120"/>
              </a:rPr>
              <a:t> nghiệp vụ — 4 bước ràng buộc chặt chẽ</a:t>
            </a:r>
            <a:endParaRPr lang="en-US" sz="2600" dirty="0">
              <a:solidFill>
                <a:schemeClr val="bg1"/>
              </a:solidFill>
            </a:endParaRPr>
          </a:p>
        </p:txBody>
      </p:sp>
      <p:sp>
        <p:nvSpPr>
          <p:cNvPr id="3" name="Text 1"/>
          <p:cNvSpPr/>
          <p:nvPr/>
        </p:nvSpPr>
        <p:spPr>
          <a:xfrm>
            <a:off x="548640" y="868680"/>
            <a:ext cx="11091672" cy="365760"/>
          </a:xfrm>
          <a:prstGeom prst="rect">
            <a:avLst/>
          </a:prstGeom>
          <a:noFill/>
          <a:ln/>
        </p:spPr>
        <p:txBody>
          <a:bodyPr wrap="square" lIns="0" tIns="0" rIns="0" bIns="0" rtlCol="0" anchor="ctr"/>
          <a:lstStyle/>
          <a:p>
            <a:pPr marL="0" indent="0">
              <a:buNone/>
            </a:pPr>
            <a:r>
              <a:rPr lang="en-US" sz="1350" b="1" dirty="0">
                <a:solidFill>
                  <a:schemeClr val="bg1"/>
                </a:solidFill>
                <a:ea typeface="Calibri" pitchFamily="34" charset="-122"/>
                <a:cs typeface="Calibri" pitchFamily="34" charset="-120"/>
              </a:rPr>
              <a:t>Mỗi bước là điều kiện bắt buộc để mở khóa bước tiếp theo — không thể bỏ qua bước nào.</a:t>
            </a:r>
            <a:endParaRPr lang="en-US" sz="1350" b="1" dirty="0">
              <a:solidFill>
                <a:schemeClr val="bg1"/>
              </a:solidFill>
            </a:endParaRPr>
          </a:p>
        </p:txBody>
      </p:sp>
      <p:sp>
        <p:nvSpPr>
          <p:cNvPr id="4" name="Shape 2"/>
          <p:cNvSpPr/>
          <p:nvPr/>
        </p:nvSpPr>
        <p:spPr>
          <a:xfrm>
            <a:off x="548640" y="1554480"/>
            <a:ext cx="2606040" cy="3200400"/>
          </a:xfrm>
          <a:prstGeom prst="roundRect">
            <a:avLst>
              <a:gd name="adj" fmla="val 4211"/>
            </a:avLst>
          </a:prstGeom>
          <a:solidFill>
            <a:srgbClr val="1836B2"/>
          </a:solidFill>
          <a:ln/>
        </p:spPr>
        <p:txBody>
          <a:bodyPr/>
          <a:lstStyle/>
          <a:p>
            <a:endParaRPr lang="vi-VN"/>
          </a:p>
        </p:txBody>
      </p:sp>
      <p:sp>
        <p:nvSpPr>
          <p:cNvPr id="5" name="Shape 3"/>
          <p:cNvSpPr/>
          <p:nvPr/>
        </p:nvSpPr>
        <p:spPr>
          <a:xfrm>
            <a:off x="1440180" y="1810512"/>
            <a:ext cx="822960" cy="822960"/>
          </a:xfrm>
          <a:prstGeom prst="ellipse">
            <a:avLst/>
          </a:prstGeom>
          <a:solidFill>
            <a:srgbClr val="222B5C"/>
          </a:solidFill>
          <a:ln/>
        </p:spPr>
        <p:txBody>
          <a:bodyPr/>
          <a:lstStyle/>
          <a:p>
            <a:endParaRPr lang="vi-VN"/>
          </a:p>
        </p:txBody>
      </p:sp>
      <p:pic>
        <p:nvPicPr>
          <p:cNvPr id="6" name="Image 0" descr="preencoded.png"/>
          <p:cNvPicPr>
            <a:picLocks noChangeAspect="1"/>
          </p:cNvPicPr>
          <p:nvPr/>
        </p:nvPicPr>
        <p:blipFill>
          <a:blip r:embed="rId3"/>
          <a:stretch>
            <a:fillRect/>
          </a:stretch>
        </p:blipFill>
        <p:spPr>
          <a:xfrm>
            <a:off x="1637690" y="2008022"/>
            <a:ext cx="427939" cy="427939"/>
          </a:xfrm>
          <a:prstGeom prst="rect">
            <a:avLst/>
          </a:prstGeom>
        </p:spPr>
      </p:pic>
      <p:sp>
        <p:nvSpPr>
          <p:cNvPr id="7" name="Shape 4"/>
          <p:cNvSpPr/>
          <p:nvPr/>
        </p:nvSpPr>
        <p:spPr>
          <a:xfrm>
            <a:off x="2651760" y="1691640"/>
            <a:ext cx="411480" cy="411480"/>
          </a:xfrm>
          <a:prstGeom prst="ellipse">
            <a:avLst/>
          </a:prstGeom>
          <a:solidFill>
            <a:srgbClr val="FFFFFF"/>
          </a:solidFill>
          <a:ln/>
        </p:spPr>
        <p:txBody>
          <a:bodyPr/>
          <a:lstStyle/>
          <a:p>
            <a:endParaRPr lang="vi-VN"/>
          </a:p>
        </p:txBody>
      </p:sp>
      <p:sp>
        <p:nvSpPr>
          <p:cNvPr id="8" name="Text 5"/>
          <p:cNvSpPr/>
          <p:nvPr/>
        </p:nvSpPr>
        <p:spPr>
          <a:xfrm>
            <a:off x="2651760" y="1691640"/>
            <a:ext cx="411480" cy="411480"/>
          </a:xfrm>
          <a:prstGeom prst="rect">
            <a:avLst/>
          </a:prstGeom>
          <a:noFill/>
          <a:ln/>
        </p:spPr>
        <p:txBody>
          <a:bodyPr wrap="square" lIns="0" tIns="0" rIns="0" bIns="0" rtlCol="0" anchor="ctr"/>
          <a:lstStyle/>
          <a:p>
            <a:pPr marL="0" indent="0" algn="ctr">
              <a:buNone/>
            </a:pPr>
            <a:r>
              <a:rPr lang="en-US" sz="1600" b="1" dirty="0">
                <a:solidFill>
                  <a:srgbClr val="222B5C"/>
                </a:solidFill>
                <a:ea typeface="Cambria" pitchFamily="34" charset="-122"/>
                <a:cs typeface="Cambria" pitchFamily="34" charset="-120"/>
              </a:rPr>
              <a:t>1</a:t>
            </a:r>
            <a:endParaRPr lang="en-US" sz="1600" dirty="0"/>
          </a:p>
        </p:txBody>
      </p:sp>
      <p:sp>
        <p:nvSpPr>
          <p:cNvPr id="9" name="Text 6"/>
          <p:cNvSpPr/>
          <p:nvPr/>
        </p:nvSpPr>
        <p:spPr>
          <a:xfrm>
            <a:off x="685800" y="2788920"/>
            <a:ext cx="2331720" cy="594360"/>
          </a:xfrm>
          <a:prstGeom prst="rect">
            <a:avLst/>
          </a:prstGeom>
          <a:noFill/>
          <a:ln/>
        </p:spPr>
        <p:txBody>
          <a:bodyPr wrap="square" lIns="0" tIns="0" rIns="0" bIns="0" rtlCol="0" anchor="ctr"/>
          <a:lstStyle/>
          <a:p>
            <a:pPr marL="0" indent="0" algn="ctr">
              <a:buNone/>
            </a:pPr>
            <a:r>
              <a:rPr lang="en-US" sz="1550" b="1" dirty="0">
                <a:solidFill>
                  <a:schemeClr val="bg1"/>
                </a:solidFill>
                <a:ea typeface="Cambria" pitchFamily="34" charset="-122"/>
                <a:cs typeface="Cambria" pitchFamily="34" charset="-120"/>
              </a:rPr>
              <a:t>Đăng ký gói tập</a:t>
            </a:r>
            <a:endParaRPr lang="en-US" sz="1550" dirty="0">
              <a:solidFill>
                <a:schemeClr val="bg1"/>
              </a:solidFill>
            </a:endParaRPr>
          </a:p>
        </p:txBody>
      </p:sp>
      <p:sp>
        <p:nvSpPr>
          <p:cNvPr id="10" name="Text 7"/>
          <p:cNvSpPr/>
          <p:nvPr/>
        </p:nvSpPr>
        <p:spPr>
          <a:xfrm>
            <a:off x="731520" y="3429000"/>
            <a:ext cx="2240280" cy="1188720"/>
          </a:xfrm>
          <a:prstGeom prst="rect">
            <a:avLst/>
          </a:prstGeom>
          <a:noFill/>
          <a:ln/>
        </p:spPr>
        <p:txBody>
          <a:bodyPr wrap="square" lIns="0" tIns="0" rIns="0" bIns="0" rtlCol="0" anchor="ctr"/>
          <a:lstStyle/>
          <a:p>
            <a:pPr marL="0" indent="0" algn="ctr">
              <a:buNone/>
            </a:pPr>
            <a:r>
              <a:rPr lang="en-US" sz="1150" dirty="0">
                <a:solidFill>
                  <a:schemeClr val="bg1"/>
                </a:solidFill>
                <a:ea typeface="Calibri" pitchFamily="34" charset="-122"/>
                <a:cs typeface="Calibri" pitchFamily="34" charset="-120"/>
              </a:rPr>
              <a:t>Trạng thái mặc định: "Chưa thanh toán"</a:t>
            </a:r>
            <a:endParaRPr lang="en-US" sz="1150" dirty="0">
              <a:solidFill>
                <a:schemeClr val="bg1"/>
              </a:solidFill>
            </a:endParaRPr>
          </a:p>
        </p:txBody>
      </p:sp>
      <p:sp>
        <p:nvSpPr>
          <p:cNvPr id="11" name="Text 8"/>
          <p:cNvSpPr/>
          <p:nvPr/>
        </p:nvSpPr>
        <p:spPr>
          <a:xfrm>
            <a:off x="3154680" y="2651760"/>
            <a:ext cx="228600" cy="548640"/>
          </a:xfrm>
          <a:prstGeom prst="rect">
            <a:avLst/>
          </a:prstGeom>
          <a:noFill/>
          <a:ln/>
        </p:spPr>
        <p:txBody>
          <a:bodyPr wrap="square" rtlCol="0" anchor="ctr"/>
          <a:lstStyle/>
          <a:p>
            <a:pPr marL="0" indent="0" algn="ctr">
              <a:buNone/>
            </a:pPr>
            <a:r>
              <a:rPr lang="en-US" sz="2000" b="1" dirty="0">
                <a:solidFill>
                  <a:srgbClr val="F9E795"/>
                </a:solidFill>
              </a:rPr>
              <a:t>→</a:t>
            </a:r>
            <a:endParaRPr lang="en-US" sz="2000" dirty="0"/>
          </a:p>
        </p:txBody>
      </p:sp>
      <p:sp>
        <p:nvSpPr>
          <p:cNvPr id="12" name="Shape 9"/>
          <p:cNvSpPr/>
          <p:nvPr/>
        </p:nvSpPr>
        <p:spPr>
          <a:xfrm>
            <a:off x="3383280" y="1554480"/>
            <a:ext cx="2606040" cy="3200400"/>
          </a:xfrm>
          <a:prstGeom prst="roundRect">
            <a:avLst>
              <a:gd name="adj" fmla="val 4211"/>
            </a:avLst>
          </a:prstGeom>
          <a:solidFill>
            <a:srgbClr val="1836B2"/>
          </a:solidFill>
          <a:ln/>
        </p:spPr>
        <p:txBody>
          <a:bodyPr/>
          <a:lstStyle/>
          <a:p>
            <a:endParaRPr lang="vi-VN" dirty="0"/>
          </a:p>
        </p:txBody>
      </p:sp>
      <p:sp>
        <p:nvSpPr>
          <p:cNvPr id="13" name="Shape 10"/>
          <p:cNvSpPr/>
          <p:nvPr/>
        </p:nvSpPr>
        <p:spPr>
          <a:xfrm>
            <a:off x="4274820" y="1810512"/>
            <a:ext cx="822960" cy="822960"/>
          </a:xfrm>
          <a:prstGeom prst="ellipse">
            <a:avLst/>
          </a:prstGeom>
          <a:solidFill>
            <a:srgbClr val="2F3C7E"/>
          </a:solidFill>
          <a:ln/>
        </p:spPr>
        <p:txBody>
          <a:bodyPr/>
          <a:lstStyle/>
          <a:p>
            <a:endParaRPr lang="vi-VN"/>
          </a:p>
        </p:txBody>
      </p:sp>
      <p:pic>
        <p:nvPicPr>
          <p:cNvPr id="14" name="Image 1" descr="preencoded.png"/>
          <p:cNvPicPr>
            <a:picLocks noChangeAspect="1"/>
          </p:cNvPicPr>
          <p:nvPr/>
        </p:nvPicPr>
        <p:blipFill>
          <a:blip r:embed="rId4"/>
          <a:stretch>
            <a:fillRect/>
          </a:stretch>
        </p:blipFill>
        <p:spPr>
          <a:xfrm>
            <a:off x="4472330" y="2008022"/>
            <a:ext cx="427939" cy="427939"/>
          </a:xfrm>
          <a:prstGeom prst="rect">
            <a:avLst/>
          </a:prstGeom>
        </p:spPr>
      </p:pic>
      <p:sp>
        <p:nvSpPr>
          <p:cNvPr id="15" name="Shape 11"/>
          <p:cNvSpPr/>
          <p:nvPr/>
        </p:nvSpPr>
        <p:spPr>
          <a:xfrm>
            <a:off x="5486400" y="1691640"/>
            <a:ext cx="411480" cy="411480"/>
          </a:xfrm>
          <a:prstGeom prst="ellipse">
            <a:avLst/>
          </a:prstGeom>
          <a:solidFill>
            <a:srgbClr val="FFFFFF"/>
          </a:solidFill>
          <a:ln/>
        </p:spPr>
        <p:txBody>
          <a:bodyPr/>
          <a:lstStyle/>
          <a:p>
            <a:endParaRPr lang="vi-VN"/>
          </a:p>
        </p:txBody>
      </p:sp>
      <p:sp>
        <p:nvSpPr>
          <p:cNvPr id="16" name="Text 12"/>
          <p:cNvSpPr/>
          <p:nvPr/>
        </p:nvSpPr>
        <p:spPr>
          <a:xfrm>
            <a:off x="5486400" y="1691640"/>
            <a:ext cx="411480" cy="411480"/>
          </a:xfrm>
          <a:prstGeom prst="rect">
            <a:avLst/>
          </a:prstGeom>
          <a:noFill/>
          <a:ln/>
        </p:spPr>
        <p:txBody>
          <a:bodyPr wrap="square" lIns="0" tIns="0" rIns="0" bIns="0" rtlCol="0" anchor="ctr"/>
          <a:lstStyle/>
          <a:p>
            <a:pPr marL="0" indent="0" algn="ctr">
              <a:buNone/>
            </a:pPr>
            <a:r>
              <a:rPr lang="en-US" sz="1600" b="1" dirty="0">
                <a:solidFill>
                  <a:srgbClr val="222B5C"/>
                </a:solidFill>
                <a:ea typeface="Cambria" pitchFamily="34" charset="-122"/>
                <a:cs typeface="Cambria" pitchFamily="34" charset="-120"/>
              </a:rPr>
              <a:t>2</a:t>
            </a:r>
            <a:endParaRPr lang="en-US" sz="1600" dirty="0"/>
          </a:p>
        </p:txBody>
      </p:sp>
      <p:sp>
        <p:nvSpPr>
          <p:cNvPr id="17" name="Text 13"/>
          <p:cNvSpPr/>
          <p:nvPr/>
        </p:nvSpPr>
        <p:spPr>
          <a:xfrm>
            <a:off x="3520440" y="2788920"/>
            <a:ext cx="2331720" cy="594360"/>
          </a:xfrm>
          <a:prstGeom prst="rect">
            <a:avLst/>
          </a:prstGeom>
          <a:noFill/>
          <a:ln/>
        </p:spPr>
        <p:txBody>
          <a:bodyPr wrap="square" lIns="0" tIns="0" rIns="0" bIns="0" rtlCol="0" anchor="ctr"/>
          <a:lstStyle/>
          <a:p>
            <a:pPr marL="0" indent="0" algn="ctr">
              <a:buNone/>
            </a:pPr>
            <a:r>
              <a:rPr lang="en-US" sz="1550" b="1" dirty="0">
                <a:solidFill>
                  <a:schemeClr val="bg1"/>
                </a:solidFill>
                <a:ea typeface="Cambria" pitchFamily="34" charset="-122"/>
                <a:cs typeface="Cambria" pitchFamily="34" charset="-120"/>
              </a:rPr>
              <a:t>Thanh toán</a:t>
            </a:r>
            <a:endParaRPr lang="en-US" sz="1550" dirty="0">
              <a:solidFill>
                <a:schemeClr val="bg1"/>
              </a:solidFill>
            </a:endParaRPr>
          </a:p>
        </p:txBody>
      </p:sp>
      <p:sp>
        <p:nvSpPr>
          <p:cNvPr id="18" name="Text 14"/>
          <p:cNvSpPr/>
          <p:nvPr/>
        </p:nvSpPr>
        <p:spPr>
          <a:xfrm>
            <a:off x="3566160" y="3429000"/>
            <a:ext cx="2240280" cy="1188720"/>
          </a:xfrm>
          <a:prstGeom prst="rect">
            <a:avLst/>
          </a:prstGeom>
          <a:noFill/>
          <a:ln/>
        </p:spPr>
        <p:txBody>
          <a:bodyPr wrap="square" lIns="0" tIns="0" rIns="0" bIns="0" rtlCol="0" anchor="ctr"/>
          <a:lstStyle/>
          <a:p>
            <a:pPr marL="0" indent="0" algn="ctr">
              <a:buNone/>
            </a:pPr>
            <a:r>
              <a:rPr lang="en-US" sz="1150" dirty="0">
                <a:solidFill>
                  <a:schemeClr val="bg1"/>
                </a:solidFill>
                <a:ea typeface="Calibri" pitchFamily="34" charset="-122"/>
                <a:cs typeface="Calibri" pitchFamily="34" charset="-120"/>
              </a:rPr>
              <a:t>Bắt buộc — mở khóa quyền điểm danh</a:t>
            </a:r>
            <a:endParaRPr lang="en-US" sz="1150" dirty="0">
              <a:solidFill>
                <a:schemeClr val="bg1"/>
              </a:solidFill>
            </a:endParaRPr>
          </a:p>
        </p:txBody>
      </p:sp>
      <p:sp>
        <p:nvSpPr>
          <p:cNvPr id="19" name="Text 15"/>
          <p:cNvSpPr/>
          <p:nvPr/>
        </p:nvSpPr>
        <p:spPr>
          <a:xfrm>
            <a:off x="5989320" y="2651760"/>
            <a:ext cx="228600" cy="548640"/>
          </a:xfrm>
          <a:prstGeom prst="rect">
            <a:avLst/>
          </a:prstGeom>
          <a:noFill/>
          <a:ln/>
        </p:spPr>
        <p:txBody>
          <a:bodyPr wrap="square" rtlCol="0" anchor="ctr"/>
          <a:lstStyle/>
          <a:p>
            <a:pPr marL="0" indent="0" algn="ctr">
              <a:buNone/>
            </a:pPr>
            <a:r>
              <a:rPr lang="en-US" sz="2000" b="1" dirty="0">
                <a:solidFill>
                  <a:srgbClr val="F9E795"/>
                </a:solidFill>
              </a:rPr>
              <a:t>→</a:t>
            </a:r>
            <a:endParaRPr lang="en-US" sz="2000" dirty="0"/>
          </a:p>
        </p:txBody>
      </p:sp>
      <p:sp>
        <p:nvSpPr>
          <p:cNvPr id="20" name="Shape 16"/>
          <p:cNvSpPr/>
          <p:nvPr/>
        </p:nvSpPr>
        <p:spPr>
          <a:xfrm>
            <a:off x="6217920" y="1554480"/>
            <a:ext cx="2606040" cy="3200400"/>
          </a:xfrm>
          <a:prstGeom prst="roundRect">
            <a:avLst>
              <a:gd name="adj" fmla="val 4211"/>
            </a:avLst>
          </a:prstGeom>
          <a:solidFill>
            <a:srgbClr val="1836B2"/>
          </a:solidFill>
          <a:ln/>
        </p:spPr>
        <p:txBody>
          <a:bodyPr/>
          <a:lstStyle/>
          <a:p>
            <a:endParaRPr lang="vi-VN" dirty="0"/>
          </a:p>
        </p:txBody>
      </p:sp>
      <p:sp>
        <p:nvSpPr>
          <p:cNvPr id="21" name="Shape 17"/>
          <p:cNvSpPr/>
          <p:nvPr/>
        </p:nvSpPr>
        <p:spPr>
          <a:xfrm>
            <a:off x="7109460" y="1810512"/>
            <a:ext cx="822960" cy="822960"/>
          </a:xfrm>
          <a:prstGeom prst="ellipse">
            <a:avLst/>
          </a:prstGeom>
          <a:solidFill>
            <a:srgbClr val="2F3C7E"/>
          </a:solidFill>
          <a:ln/>
        </p:spPr>
        <p:txBody>
          <a:bodyPr/>
          <a:lstStyle/>
          <a:p>
            <a:endParaRPr lang="vi-VN"/>
          </a:p>
        </p:txBody>
      </p:sp>
      <p:pic>
        <p:nvPicPr>
          <p:cNvPr id="22" name="Image 2" descr="preencoded.png"/>
          <p:cNvPicPr>
            <a:picLocks noChangeAspect="1"/>
          </p:cNvPicPr>
          <p:nvPr/>
        </p:nvPicPr>
        <p:blipFill>
          <a:blip r:embed="rId5"/>
          <a:stretch>
            <a:fillRect/>
          </a:stretch>
        </p:blipFill>
        <p:spPr>
          <a:xfrm>
            <a:off x="7306970" y="2008022"/>
            <a:ext cx="427939" cy="427939"/>
          </a:xfrm>
          <a:prstGeom prst="rect">
            <a:avLst/>
          </a:prstGeom>
        </p:spPr>
      </p:pic>
      <p:sp>
        <p:nvSpPr>
          <p:cNvPr id="23" name="Shape 18"/>
          <p:cNvSpPr/>
          <p:nvPr/>
        </p:nvSpPr>
        <p:spPr>
          <a:xfrm>
            <a:off x="8321040" y="1691640"/>
            <a:ext cx="411480" cy="411480"/>
          </a:xfrm>
          <a:prstGeom prst="ellipse">
            <a:avLst/>
          </a:prstGeom>
          <a:solidFill>
            <a:srgbClr val="FFFFFF"/>
          </a:solidFill>
          <a:ln/>
        </p:spPr>
        <p:txBody>
          <a:bodyPr/>
          <a:lstStyle/>
          <a:p>
            <a:endParaRPr lang="vi-VN"/>
          </a:p>
        </p:txBody>
      </p:sp>
      <p:sp>
        <p:nvSpPr>
          <p:cNvPr id="24" name="Text 19"/>
          <p:cNvSpPr/>
          <p:nvPr/>
        </p:nvSpPr>
        <p:spPr>
          <a:xfrm>
            <a:off x="8321040" y="1691640"/>
            <a:ext cx="411480" cy="411480"/>
          </a:xfrm>
          <a:prstGeom prst="rect">
            <a:avLst/>
          </a:prstGeom>
          <a:noFill/>
          <a:ln/>
        </p:spPr>
        <p:txBody>
          <a:bodyPr wrap="square" lIns="0" tIns="0" rIns="0" bIns="0" rtlCol="0" anchor="ctr"/>
          <a:lstStyle/>
          <a:p>
            <a:pPr marL="0" indent="0" algn="ctr">
              <a:buNone/>
            </a:pPr>
            <a:r>
              <a:rPr lang="en-US" sz="1600" b="1" dirty="0">
                <a:solidFill>
                  <a:srgbClr val="222B5C"/>
                </a:solidFill>
                <a:ea typeface="Cambria" pitchFamily="34" charset="-122"/>
                <a:cs typeface="Cambria" pitchFamily="34" charset="-120"/>
              </a:rPr>
              <a:t>3</a:t>
            </a:r>
            <a:endParaRPr lang="en-US" sz="1600" dirty="0"/>
          </a:p>
        </p:txBody>
      </p:sp>
      <p:sp>
        <p:nvSpPr>
          <p:cNvPr id="25" name="Text 20"/>
          <p:cNvSpPr/>
          <p:nvPr/>
        </p:nvSpPr>
        <p:spPr>
          <a:xfrm>
            <a:off x="6355080" y="2788920"/>
            <a:ext cx="2331720" cy="594360"/>
          </a:xfrm>
          <a:prstGeom prst="rect">
            <a:avLst/>
          </a:prstGeom>
          <a:noFill/>
          <a:ln/>
        </p:spPr>
        <p:txBody>
          <a:bodyPr wrap="square" lIns="0" tIns="0" rIns="0" bIns="0" rtlCol="0" anchor="ctr"/>
          <a:lstStyle/>
          <a:p>
            <a:pPr marL="0" indent="0" algn="ctr">
              <a:buNone/>
            </a:pPr>
            <a:r>
              <a:rPr lang="en-US" sz="1550" b="1" dirty="0">
                <a:solidFill>
                  <a:schemeClr val="bg1"/>
                </a:solidFill>
                <a:ea typeface="Cambria" pitchFamily="34" charset="-122"/>
                <a:cs typeface="Cambria" pitchFamily="34" charset="-120"/>
              </a:rPr>
              <a:t>Điểm danh</a:t>
            </a:r>
            <a:endParaRPr lang="en-US" sz="1550" dirty="0">
              <a:solidFill>
                <a:schemeClr val="bg1"/>
              </a:solidFill>
            </a:endParaRPr>
          </a:p>
        </p:txBody>
      </p:sp>
      <p:sp>
        <p:nvSpPr>
          <p:cNvPr id="26" name="Text 21"/>
          <p:cNvSpPr/>
          <p:nvPr/>
        </p:nvSpPr>
        <p:spPr>
          <a:xfrm>
            <a:off x="6400800" y="3429000"/>
            <a:ext cx="2240280" cy="1188720"/>
          </a:xfrm>
          <a:prstGeom prst="rect">
            <a:avLst/>
          </a:prstGeom>
          <a:noFill/>
          <a:ln/>
        </p:spPr>
        <p:txBody>
          <a:bodyPr wrap="square" lIns="0" tIns="0" rIns="0" bIns="0" rtlCol="0" anchor="ctr"/>
          <a:lstStyle/>
          <a:p>
            <a:pPr marL="0" indent="0" algn="ctr">
              <a:buNone/>
            </a:pPr>
            <a:r>
              <a:rPr lang="en-US" sz="1150" dirty="0">
                <a:solidFill>
                  <a:schemeClr val="bg1"/>
                </a:solidFill>
                <a:ea typeface="Calibri" pitchFamily="34" charset="-122"/>
                <a:cs typeface="Calibri" pitchFamily="34" charset="-120"/>
              </a:rPr>
              <a:t>Mỗi ngày 1 </a:t>
            </a:r>
            <a:r>
              <a:rPr lang="en-US" sz="1150" dirty="0" err="1">
                <a:solidFill>
                  <a:schemeClr val="bg1"/>
                </a:solidFill>
                <a:ea typeface="Calibri" pitchFamily="34" charset="-122"/>
                <a:cs typeface="Calibri" pitchFamily="34" charset="-120"/>
              </a:rPr>
              <a:t>lần</a:t>
            </a:r>
            <a:r>
              <a:rPr lang="en-US" sz="1150" dirty="0">
                <a:solidFill>
                  <a:schemeClr val="bg1"/>
                </a:solidFill>
                <a:ea typeface="Calibri" pitchFamily="34" charset="-122"/>
                <a:cs typeface="Calibri" pitchFamily="34" charset="-120"/>
              </a:rPr>
              <a:t>  (không check-out)</a:t>
            </a:r>
            <a:endParaRPr lang="en-US" sz="1150" dirty="0">
              <a:solidFill>
                <a:schemeClr val="bg1"/>
              </a:solidFill>
            </a:endParaRPr>
          </a:p>
        </p:txBody>
      </p:sp>
      <p:sp>
        <p:nvSpPr>
          <p:cNvPr id="27" name="Text 22"/>
          <p:cNvSpPr/>
          <p:nvPr/>
        </p:nvSpPr>
        <p:spPr>
          <a:xfrm>
            <a:off x="8823960" y="2651760"/>
            <a:ext cx="228600" cy="548640"/>
          </a:xfrm>
          <a:prstGeom prst="rect">
            <a:avLst/>
          </a:prstGeom>
          <a:noFill/>
          <a:ln/>
        </p:spPr>
        <p:txBody>
          <a:bodyPr wrap="square" rtlCol="0" anchor="ctr"/>
          <a:lstStyle/>
          <a:p>
            <a:pPr marL="0" indent="0" algn="ctr">
              <a:buNone/>
            </a:pPr>
            <a:r>
              <a:rPr lang="en-US" sz="2000" b="1" dirty="0">
                <a:solidFill>
                  <a:srgbClr val="F9E795"/>
                </a:solidFill>
              </a:rPr>
              <a:t>→</a:t>
            </a:r>
            <a:endParaRPr lang="en-US" sz="2000" dirty="0"/>
          </a:p>
        </p:txBody>
      </p:sp>
      <p:sp>
        <p:nvSpPr>
          <p:cNvPr id="28" name="Shape 23"/>
          <p:cNvSpPr/>
          <p:nvPr/>
        </p:nvSpPr>
        <p:spPr>
          <a:xfrm>
            <a:off x="9052560" y="1554480"/>
            <a:ext cx="2606040" cy="3200400"/>
          </a:xfrm>
          <a:prstGeom prst="roundRect">
            <a:avLst>
              <a:gd name="adj" fmla="val 4211"/>
            </a:avLst>
          </a:prstGeom>
          <a:solidFill>
            <a:srgbClr val="1836B2"/>
          </a:solidFill>
          <a:ln/>
        </p:spPr>
        <p:txBody>
          <a:bodyPr/>
          <a:lstStyle/>
          <a:p>
            <a:endParaRPr lang="vi-VN"/>
          </a:p>
        </p:txBody>
      </p:sp>
      <p:sp>
        <p:nvSpPr>
          <p:cNvPr id="29" name="Shape 24"/>
          <p:cNvSpPr/>
          <p:nvPr/>
        </p:nvSpPr>
        <p:spPr>
          <a:xfrm>
            <a:off x="9944100" y="1810512"/>
            <a:ext cx="822960" cy="822960"/>
          </a:xfrm>
          <a:prstGeom prst="ellipse">
            <a:avLst/>
          </a:prstGeom>
          <a:solidFill>
            <a:srgbClr val="2F3C7E"/>
          </a:solidFill>
          <a:ln/>
        </p:spPr>
        <p:txBody>
          <a:bodyPr/>
          <a:lstStyle/>
          <a:p>
            <a:endParaRPr lang="vi-VN"/>
          </a:p>
        </p:txBody>
      </p:sp>
      <p:pic>
        <p:nvPicPr>
          <p:cNvPr id="30" name="Image 3" descr="preencoded.png"/>
          <p:cNvPicPr>
            <a:picLocks noChangeAspect="1"/>
          </p:cNvPicPr>
          <p:nvPr/>
        </p:nvPicPr>
        <p:blipFill>
          <a:blip r:embed="rId6"/>
          <a:stretch>
            <a:fillRect/>
          </a:stretch>
        </p:blipFill>
        <p:spPr>
          <a:xfrm>
            <a:off x="10141610" y="2008022"/>
            <a:ext cx="427939" cy="427939"/>
          </a:xfrm>
          <a:prstGeom prst="rect">
            <a:avLst/>
          </a:prstGeom>
        </p:spPr>
      </p:pic>
      <p:sp>
        <p:nvSpPr>
          <p:cNvPr id="31" name="Shape 25"/>
          <p:cNvSpPr/>
          <p:nvPr/>
        </p:nvSpPr>
        <p:spPr>
          <a:xfrm>
            <a:off x="11155680" y="1691640"/>
            <a:ext cx="411480" cy="411480"/>
          </a:xfrm>
          <a:prstGeom prst="ellipse">
            <a:avLst/>
          </a:prstGeom>
          <a:solidFill>
            <a:srgbClr val="FFFFFF"/>
          </a:solidFill>
          <a:ln/>
        </p:spPr>
        <p:txBody>
          <a:bodyPr/>
          <a:lstStyle/>
          <a:p>
            <a:endParaRPr lang="vi-VN"/>
          </a:p>
        </p:txBody>
      </p:sp>
      <p:sp>
        <p:nvSpPr>
          <p:cNvPr id="32" name="Text 26"/>
          <p:cNvSpPr/>
          <p:nvPr/>
        </p:nvSpPr>
        <p:spPr>
          <a:xfrm>
            <a:off x="11155680" y="1691640"/>
            <a:ext cx="411480" cy="411480"/>
          </a:xfrm>
          <a:prstGeom prst="rect">
            <a:avLst/>
          </a:prstGeom>
          <a:noFill/>
          <a:ln/>
        </p:spPr>
        <p:txBody>
          <a:bodyPr wrap="square" lIns="0" tIns="0" rIns="0" bIns="0" rtlCol="0" anchor="ctr"/>
          <a:lstStyle/>
          <a:p>
            <a:pPr marL="0" indent="0" algn="ctr">
              <a:buNone/>
            </a:pPr>
            <a:r>
              <a:rPr lang="en-US" sz="1600" b="1" dirty="0">
                <a:solidFill>
                  <a:srgbClr val="222B5C"/>
                </a:solidFill>
                <a:ea typeface="Cambria" pitchFamily="34" charset="-122"/>
                <a:cs typeface="Cambria" pitchFamily="34" charset="-120"/>
              </a:rPr>
              <a:t>4</a:t>
            </a:r>
            <a:endParaRPr lang="en-US" sz="1600" dirty="0"/>
          </a:p>
        </p:txBody>
      </p:sp>
      <p:sp>
        <p:nvSpPr>
          <p:cNvPr id="33" name="Text 27"/>
          <p:cNvSpPr/>
          <p:nvPr/>
        </p:nvSpPr>
        <p:spPr>
          <a:xfrm>
            <a:off x="9189720" y="2788920"/>
            <a:ext cx="2331720" cy="594360"/>
          </a:xfrm>
          <a:prstGeom prst="rect">
            <a:avLst/>
          </a:prstGeom>
          <a:noFill/>
          <a:ln/>
        </p:spPr>
        <p:txBody>
          <a:bodyPr wrap="square" lIns="0" tIns="0" rIns="0" bIns="0" rtlCol="0" anchor="ctr"/>
          <a:lstStyle/>
          <a:p>
            <a:pPr marL="0" indent="0" algn="ctr">
              <a:buNone/>
            </a:pPr>
            <a:r>
              <a:rPr lang="en-US" sz="1550" b="1" dirty="0">
                <a:solidFill>
                  <a:schemeClr val="bg1"/>
                </a:solidFill>
                <a:ea typeface="Cambria" pitchFamily="34" charset="-122"/>
                <a:cs typeface="Cambria" pitchFamily="34" charset="-120"/>
              </a:rPr>
              <a:t>Dùng dịch vụ</a:t>
            </a:r>
            <a:endParaRPr lang="en-US" sz="1550" dirty="0">
              <a:solidFill>
                <a:schemeClr val="bg1"/>
              </a:solidFill>
            </a:endParaRPr>
          </a:p>
        </p:txBody>
      </p:sp>
      <p:sp>
        <p:nvSpPr>
          <p:cNvPr id="34" name="Text 28"/>
          <p:cNvSpPr/>
          <p:nvPr/>
        </p:nvSpPr>
        <p:spPr>
          <a:xfrm>
            <a:off x="9235440" y="3429000"/>
            <a:ext cx="2240280" cy="1188720"/>
          </a:xfrm>
          <a:prstGeom prst="rect">
            <a:avLst/>
          </a:prstGeom>
          <a:noFill/>
          <a:ln/>
        </p:spPr>
        <p:txBody>
          <a:bodyPr wrap="square" lIns="0" tIns="0" rIns="0" bIns="0" rtlCol="0" anchor="ctr"/>
          <a:lstStyle/>
          <a:p>
            <a:pPr marL="0" indent="0" algn="ctr">
              <a:buNone/>
            </a:pPr>
            <a:r>
              <a:rPr lang="en-US" sz="1150" dirty="0">
                <a:solidFill>
                  <a:schemeClr val="bg1"/>
                </a:solidFill>
                <a:ea typeface="Calibri" pitchFamily="34" charset="-122"/>
                <a:cs typeface="Calibri" pitchFamily="34" charset="-120"/>
              </a:rPr>
              <a:t>Chỉ mua được trong ngày đã điểm danh</a:t>
            </a:r>
            <a:endParaRPr lang="en-US" sz="1150" dirty="0">
              <a:solidFill>
                <a:schemeClr val="bg1"/>
              </a:solidFill>
            </a:endParaRPr>
          </a:p>
        </p:txBody>
      </p:sp>
      <p:sp>
        <p:nvSpPr>
          <p:cNvPr id="35" name="Shape 29"/>
          <p:cNvSpPr/>
          <p:nvPr/>
        </p:nvSpPr>
        <p:spPr>
          <a:xfrm>
            <a:off x="548640" y="5074920"/>
            <a:ext cx="11091672" cy="1234440"/>
          </a:xfrm>
          <a:prstGeom prst="roundRect">
            <a:avLst>
              <a:gd name="adj" fmla="val 7407"/>
            </a:avLst>
          </a:prstGeom>
          <a:solidFill>
            <a:srgbClr val="1836B2"/>
          </a:solidFill>
          <a:ln/>
        </p:spPr>
        <p:txBody>
          <a:bodyPr/>
          <a:lstStyle/>
          <a:p>
            <a:endParaRPr lang="vi-VN"/>
          </a:p>
        </p:txBody>
      </p:sp>
      <p:sp>
        <p:nvSpPr>
          <p:cNvPr id="36" name="Text 30"/>
          <p:cNvSpPr/>
          <p:nvPr/>
        </p:nvSpPr>
        <p:spPr>
          <a:xfrm>
            <a:off x="822960" y="5285232"/>
            <a:ext cx="10543032" cy="822960"/>
          </a:xfrm>
          <a:prstGeom prst="rect">
            <a:avLst/>
          </a:prstGeom>
          <a:noFill/>
          <a:ln/>
        </p:spPr>
        <p:txBody>
          <a:bodyPr wrap="square" lIns="0" tIns="0" rIns="0" bIns="0" rtlCol="0" anchor="ctr"/>
          <a:lstStyle/>
          <a:p>
            <a:pPr marL="0" indent="0">
              <a:buNone/>
            </a:pPr>
            <a:r>
              <a:rPr lang="en-US" sz="1400" b="1" dirty="0">
                <a:solidFill>
                  <a:srgbClr val="F9E795"/>
                </a:solidFill>
                <a:ea typeface="Calibri" pitchFamily="34" charset="-122"/>
                <a:cs typeface="Calibri" pitchFamily="34" charset="-120"/>
              </a:rPr>
              <a:t>Điểm khác biệt: </a:t>
            </a:r>
            <a:r>
              <a:rPr lang="en-US" sz="1400" dirty="0">
                <a:solidFill>
                  <a:srgbClr val="E8EAF6"/>
                </a:solidFill>
                <a:ea typeface="Calibri" pitchFamily="34" charset="-122"/>
                <a:cs typeface="Calibri" pitchFamily="34" charset="-120"/>
              </a:rPr>
              <a:t>sau khi thanh toán lần đầu, hội viên vẫn có thể </a:t>
            </a:r>
            <a:r>
              <a:rPr lang="en-US" sz="1400" b="1" dirty="0">
                <a:solidFill>
                  <a:srgbClr val="FFFFFF"/>
                </a:solidFill>
                <a:ea typeface="Calibri" pitchFamily="34" charset="-122"/>
                <a:cs typeface="Calibri" pitchFamily="34" charset="-120"/>
              </a:rPr>
              <a:t>thanh toán bổ sung nhiều đợt</a:t>
            </a:r>
            <a:r>
              <a:rPr lang="en-US" sz="1400" dirty="0">
                <a:solidFill>
                  <a:srgbClr val="E8EAF6"/>
                </a:solidFill>
                <a:ea typeface="Calibri" pitchFamily="34" charset="-122"/>
                <a:cs typeface="Calibri" pitchFamily="34" charset="-120"/>
              </a:rPr>
              <a:t> khi mua thêm dịch vụ trong các ngày tập tiếp theo.</a:t>
            </a:r>
            <a:endParaRPr lang="en-US" sz="1400" dirty="0"/>
          </a:p>
        </p:txBody>
      </p:sp>
      <p:pic>
        <p:nvPicPr>
          <p:cNvPr id="9005" name="UIT Logo Mark" descr="UIT logo"/>
          <p:cNvPicPr>
            <a:picLocks noChangeAspect="1"/>
          </p:cNvPicPr>
          <p:nvPr/>
        </p:nvPicPr>
        <p:blipFill>
          <a:blip r:embed="rId7"/>
          <a:stretch>
            <a:fillRect/>
          </a:stretch>
        </p:blipFill>
        <p:spPr>
          <a:xfrm>
            <a:off x="-4240" y="0"/>
            <a:ext cx="3104804" cy="822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240" y="0"/>
            <a:ext cx="3104804" cy="822960"/>
          </a:xfrm>
          <a:prstGeom prst="rect">
            <a:avLst/>
          </a:prstGeom>
        </p:spPr>
      </p:pic>
      <p:sp>
        <p:nvSpPr>
          <p:cNvPr id="3" name="TextBox 2"/>
          <p:cNvSpPr txBox="1"/>
          <p:nvPr/>
        </p:nvSpPr>
        <p:spPr>
          <a:xfrm>
            <a:off x="3909101" y="204061"/>
            <a:ext cx="6320320" cy="430887"/>
          </a:xfrm>
          <a:prstGeom prst="rect">
            <a:avLst/>
          </a:prstGeom>
          <a:noFill/>
        </p:spPr>
        <p:txBody>
          <a:bodyPr wrap="none" lIns="0" tIns="0" rIns="0" bIns="0">
            <a:spAutoFit/>
          </a:bodyPr>
          <a:lstStyle/>
          <a:p>
            <a:pPr algn="ctr"/>
            <a:r>
              <a:rPr sz="2800" b="1" dirty="0">
                <a:solidFill>
                  <a:srgbClr val="000000"/>
                </a:solidFill>
                <a:latin typeface="Cambria"/>
              </a:rPr>
              <a:t>Minh </a:t>
            </a:r>
            <a:r>
              <a:rPr sz="2800" b="1" dirty="0" err="1">
                <a:solidFill>
                  <a:srgbClr val="000000"/>
                </a:solidFill>
                <a:latin typeface="Cambria"/>
              </a:rPr>
              <a:t>họa</a:t>
            </a:r>
            <a:r>
              <a:rPr sz="2800" b="1" dirty="0">
                <a:solidFill>
                  <a:srgbClr val="000000"/>
                </a:solidFill>
                <a:latin typeface="Cambria"/>
              </a:rPr>
              <a:t>: </a:t>
            </a:r>
            <a:r>
              <a:rPr sz="2800" b="1" dirty="0" err="1">
                <a:solidFill>
                  <a:srgbClr val="000000"/>
                </a:solidFill>
                <a:latin typeface="Cambria"/>
              </a:rPr>
              <a:t>chặn</a:t>
            </a:r>
            <a:r>
              <a:rPr sz="2800" b="1" dirty="0">
                <a:solidFill>
                  <a:srgbClr val="000000"/>
                </a:solidFill>
                <a:latin typeface="Cambria"/>
              </a:rPr>
              <a:t> </a:t>
            </a:r>
            <a:r>
              <a:rPr sz="2800" b="1" dirty="0" err="1">
                <a:solidFill>
                  <a:srgbClr val="000000"/>
                </a:solidFill>
                <a:latin typeface="Cambria"/>
              </a:rPr>
              <a:t>và</a:t>
            </a:r>
            <a:r>
              <a:rPr sz="2800" b="1" dirty="0">
                <a:solidFill>
                  <a:srgbClr val="000000"/>
                </a:solidFill>
                <a:latin typeface="Cambria"/>
              </a:rPr>
              <a:t> </a:t>
            </a:r>
            <a:r>
              <a:rPr sz="2800" b="1" dirty="0" err="1">
                <a:solidFill>
                  <a:srgbClr val="000000"/>
                </a:solidFill>
                <a:latin typeface="Cambria"/>
              </a:rPr>
              <a:t>mở</a:t>
            </a:r>
            <a:r>
              <a:rPr sz="2800" b="1" dirty="0">
                <a:solidFill>
                  <a:srgbClr val="000000"/>
                </a:solidFill>
                <a:latin typeface="Cambria"/>
              </a:rPr>
              <a:t> </a:t>
            </a:r>
            <a:r>
              <a:rPr sz="2800" b="1" dirty="0" err="1">
                <a:solidFill>
                  <a:srgbClr val="000000"/>
                </a:solidFill>
                <a:latin typeface="Cambria"/>
              </a:rPr>
              <a:t>khóa</a:t>
            </a:r>
            <a:r>
              <a:rPr sz="2800" b="1" dirty="0">
                <a:solidFill>
                  <a:srgbClr val="000000"/>
                </a:solidFill>
                <a:latin typeface="Cambria"/>
              </a:rPr>
              <a:t> </a:t>
            </a:r>
            <a:r>
              <a:rPr sz="2800" b="1" dirty="0" err="1">
                <a:solidFill>
                  <a:srgbClr val="000000"/>
                </a:solidFill>
                <a:latin typeface="Cambria"/>
              </a:rPr>
              <a:t>từng</a:t>
            </a:r>
            <a:r>
              <a:rPr sz="2800" b="1" dirty="0">
                <a:solidFill>
                  <a:srgbClr val="000000"/>
                </a:solidFill>
                <a:latin typeface="Cambria"/>
              </a:rPr>
              <a:t> </a:t>
            </a:r>
            <a:r>
              <a:rPr sz="2800" b="1" dirty="0" err="1">
                <a:solidFill>
                  <a:srgbClr val="000000"/>
                </a:solidFill>
                <a:latin typeface="Cambria"/>
              </a:rPr>
              <a:t>bước</a:t>
            </a:r>
            <a:endParaRPr sz="2800" b="1" dirty="0">
              <a:solidFill>
                <a:srgbClr val="000000"/>
              </a:solidFill>
              <a:latin typeface="Cambria"/>
            </a:endParaRPr>
          </a:p>
        </p:txBody>
      </p:sp>
      <p:sp>
        <p:nvSpPr>
          <p:cNvPr id="4" name="Oval 3"/>
          <p:cNvSpPr/>
          <p:nvPr/>
        </p:nvSpPr>
        <p:spPr>
          <a:xfrm>
            <a:off x="640080" y="1207008"/>
            <a:ext cx="594360" cy="594360"/>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Calibri"/>
              </a:rPr>
              <a:t>!</a:t>
            </a:r>
          </a:p>
        </p:txBody>
      </p:sp>
      <p:sp>
        <p:nvSpPr>
          <p:cNvPr id="5" name="TextBox 4"/>
          <p:cNvSpPr txBox="1"/>
          <p:nvPr/>
        </p:nvSpPr>
        <p:spPr>
          <a:xfrm>
            <a:off x="1417320" y="1124712"/>
            <a:ext cx="4572000" cy="411480"/>
          </a:xfrm>
          <a:prstGeom prst="rect">
            <a:avLst/>
          </a:prstGeom>
          <a:noFill/>
        </p:spPr>
        <p:txBody>
          <a:bodyPr wrap="square" lIns="0" tIns="0" rIns="0" bIns="0">
            <a:spAutoFit/>
          </a:bodyPr>
          <a:lstStyle/>
          <a:p>
            <a:pPr algn="l"/>
            <a:r>
              <a:rPr sz="1450" b="1">
                <a:solidFill>
                  <a:srgbClr val="2F3C7E"/>
                </a:solidFill>
                <a:latin typeface="Calibri"/>
              </a:rPr>
              <a:t>Điểm danh khi CHƯA thanh toán</a:t>
            </a:r>
          </a:p>
        </p:txBody>
      </p:sp>
      <p:sp>
        <p:nvSpPr>
          <p:cNvPr id="6" name="TextBox 5"/>
          <p:cNvSpPr txBox="1"/>
          <p:nvPr/>
        </p:nvSpPr>
        <p:spPr>
          <a:xfrm>
            <a:off x="6126480" y="1124712"/>
            <a:ext cx="5486400" cy="777240"/>
          </a:xfrm>
          <a:prstGeom prst="rect">
            <a:avLst/>
          </a:prstGeom>
          <a:noFill/>
        </p:spPr>
        <p:txBody>
          <a:bodyPr wrap="square" lIns="0" tIns="0" rIns="0" bIns="0">
            <a:spAutoFit/>
          </a:bodyPr>
          <a:lstStyle/>
          <a:p>
            <a:pPr algn="l"/>
            <a:r>
              <a:rPr sz="1250" i="1">
                <a:solidFill>
                  <a:srgbClr val="5A5F73"/>
                </a:solidFill>
                <a:latin typeface="Calibri"/>
              </a:rPr>
              <a:t>“Phiếu chưa thanh toán, vui lòng thanh toán trước khi tập!”</a:t>
            </a:r>
          </a:p>
        </p:txBody>
      </p:sp>
      <p:sp>
        <p:nvSpPr>
          <p:cNvPr id="7" name="Oval 6"/>
          <p:cNvSpPr/>
          <p:nvPr/>
        </p:nvSpPr>
        <p:spPr>
          <a:xfrm>
            <a:off x="640080" y="2167127"/>
            <a:ext cx="594360" cy="59436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Calibri"/>
              </a:rPr>
              <a:t>✓</a:t>
            </a:r>
          </a:p>
        </p:txBody>
      </p:sp>
      <p:sp>
        <p:nvSpPr>
          <p:cNvPr id="8" name="TextBox 7"/>
          <p:cNvSpPr txBox="1"/>
          <p:nvPr/>
        </p:nvSpPr>
        <p:spPr>
          <a:xfrm>
            <a:off x="1417320" y="2084831"/>
            <a:ext cx="4572000" cy="411480"/>
          </a:xfrm>
          <a:prstGeom prst="rect">
            <a:avLst/>
          </a:prstGeom>
          <a:noFill/>
        </p:spPr>
        <p:txBody>
          <a:bodyPr wrap="square" lIns="0" tIns="0" rIns="0" bIns="0">
            <a:spAutoFit/>
          </a:bodyPr>
          <a:lstStyle/>
          <a:p>
            <a:pPr algn="l"/>
            <a:r>
              <a:rPr sz="1450" b="1">
                <a:solidFill>
                  <a:srgbClr val="2F3C7E"/>
                </a:solidFill>
                <a:latin typeface="Calibri"/>
              </a:rPr>
              <a:t>Thanh toán lần đầu</a:t>
            </a:r>
          </a:p>
        </p:txBody>
      </p:sp>
      <p:sp>
        <p:nvSpPr>
          <p:cNvPr id="9" name="TextBox 8"/>
          <p:cNvSpPr txBox="1"/>
          <p:nvPr/>
        </p:nvSpPr>
        <p:spPr>
          <a:xfrm>
            <a:off x="6126480" y="2084831"/>
            <a:ext cx="5486400" cy="777240"/>
          </a:xfrm>
          <a:prstGeom prst="rect">
            <a:avLst/>
          </a:prstGeom>
          <a:noFill/>
        </p:spPr>
        <p:txBody>
          <a:bodyPr wrap="square" lIns="0" tIns="0" rIns="0" bIns="0">
            <a:spAutoFit/>
          </a:bodyPr>
          <a:lstStyle/>
          <a:p>
            <a:pPr algn="l"/>
            <a:r>
              <a:rPr sz="1250" i="1">
                <a:solidFill>
                  <a:srgbClr val="5A5F73"/>
                </a:solidFill>
                <a:latin typeface="Calibri"/>
              </a:rPr>
              <a:t>Chỉ tính tiền gói — 800.000 đ — phiếu chuyển “Đã thanh toán”</a:t>
            </a:r>
          </a:p>
        </p:txBody>
      </p:sp>
      <p:sp>
        <p:nvSpPr>
          <p:cNvPr id="10" name="Oval 9"/>
          <p:cNvSpPr/>
          <p:nvPr/>
        </p:nvSpPr>
        <p:spPr>
          <a:xfrm>
            <a:off x="640080" y="3127248"/>
            <a:ext cx="594360" cy="59436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Calibri"/>
              </a:rPr>
              <a:t>✓</a:t>
            </a:r>
          </a:p>
        </p:txBody>
      </p:sp>
      <p:sp>
        <p:nvSpPr>
          <p:cNvPr id="11" name="TextBox 10"/>
          <p:cNvSpPr txBox="1"/>
          <p:nvPr/>
        </p:nvSpPr>
        <p:spPr>
          <a:xfrm>
            <a:off x="1417320" y="3044952"/>
            <a:ext cx="4572000" cy="411480"/>
          </a:xfrm>
          <a:prstGeom prst="rect">
            <a:avLst/>
          </a:prstGeom>
          <a:noFill/>
        </p:spPr>
        <p:txBody>
          <a:bodyPr wrap="square" lIns="0" tIns="0" rIns="0" bIns="0">
            <a:spAutoFit/>
          </a:bodyPr>
          <a:lstStyle/>
          <a:p>
            <a:pPr algn="l"/>
            <a:r>
              <a:rPr sz="1450" b="1">
                <a:solidFill>
                  <a:srgbClr val="2F3C7E"/>
                </a:solidFill>
                <a:latin typeface="Calibri"/>
              </a:rPr>
              <a:t>Điểm danh sau khi đã thanh toán</a:t>
            </a:r>
          </a:p>
        </p:txBody>
      </p:sp>
      <p:sp>
        <p:nvSpPr>
          <p:cNvPr id="12" name="TextBox 11"/>
          <p:cNvSpPr txBox="1"/>
          <p:nvPr/>
        </p:nvSpPr>
        <p:spPr>
          <a:xfrm>
            <a:off x="6126480" y="3044952"/>
            <a:ext cx="5486400" cy="777240"/>
          </a:xfrm>
          <a:prstGeom prst="rect">
            <a:avLst/>
          </a:prstGeom>
          <a:noFill/>
        </p:spPr>
        <p:txBody>
          <a:bodyPr wrap="square" lIns="0" tIns="0" rIns="0" bIns="0">
            <a:spAutoFit/>
          </a:bodyPr>
          <a:lstStyle/>
          <a:p>
            <a:pPr algn="l"/>
            <a:r>
              <a:rPr sz="1250" i="1">
                <a:solidFill>
                  <a:srgbClr val="5A5F73"/>
                </a:solidFill>
                <a:latin typeface="Calibri"/>
              </a:rPr>
              <a:t>Thành công — ghi nhận đúng 1 lần trong ngày</a:t>
            </a:r>
          </a:p>
        </p:txBody>
      </p:sp>
      <p:sp>
        <p:nvSpPr>
          <p:cNvPr id="13" name="Oval 12"/>
          <p:cNvSpPr/>
          <p:nvPr/>
        </p:nvSpPr>
        <p:spPr>
          <a:xfrm>
            <a:off x="640080" y="4087368"/>
            <a:ext cx="594360" cy="594360"/>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Calibri"/>
              </a:rPr>
              <a:t>!</a:t>
            </a:r>
          </a:p>
        </p:txBody>
      </p:sp>
      <p:sp>
        <p:nvSpPr>
          <p:cNvPr id="14" name="TextBox 13"/>
          <p:cNvSpPr txBox="1"/>
          <p:nvPr/>
        </p:nvSpPr>
        <p:spPr>
          <a:xfrm>
            <a:off x="1417320" y="4005072"/>
            <a:ext cx="4572000" cy="411480"/>
          </a:xfrm>
          <a:prstGeom prst="rect">
            <a:avLst/>
          </a:prstGeom>
          <a:noFill/>
        </p:spPr>
        <p:txBody>
          <a:bodyPr wrap="square" lIns="0" tIns="0" rIns="0" bIns="0">
            <a:spAutoFit/>
          </a:bodyPr>
          <a:lstStyle/>
          <a:p>
            <a:pPr algn="l"/>
            <a:r>
              <a:rPr sz="1450" b="1">
                <a:solidFill>
                  <a:srgbClr val="2F3C7E"/>
                </a:solidFill>
                <a:latin typeface="Calibri"/>
              </a:rPr>
              <a:t>Mua dịch vụ khi CHƯA điểm danh</a:t>
            </a:r>
          </a:p>
        </p:txBody>
      </p:sp>
      <p:sp>
        <p:nvSpPr>
          <p:cNvPr id="15" name="TextBox 14"/>
          <p:cNvSpPr txBox="1"/>
          <p:nvPr/>
        </p:nvSpPr>
        <p:spPr>
          <a:xfrm>
            <a:off x="6126480" y="4005072"/>
            <a:ext cx="5486400" cy="777240"/>
          </a:xfrm>
          <a:prstGeom prst="rect">
            <a:avLst/>
          </a:prstGeom>
          <a:noFill/>
        </p:spPr>
        <p:txBody>
          <a:bodyPr wrap="square" lIns="0" tIns="0" rIns="0" bIns="0">
            <a:spAutoFit/>
          </a:bodyPr>
          <a:lstStyle/>
          <a:p>
            <a:pPr algn="l"/>
            <a:r>
              <a:rPr sz="1250" i="1">
                <a:solidFill>
                  <a:srgbClr val="5A5F73"/>
                </a:solidFill>
                <a:latin typeface="Calibri"/>
              </a:rPr>
              <a:t>“Hội viên chưa điểm danh hôm nay, không thể mua dịch vụ!”</a:t>
            </a:r>
          </a:p>
        </p:txBody>
      </p:sp>
      <p:sp>
        <p:nvSpPr>
          <p:cNvPr id="16" name="Oval 15"/>
          <p:cNvSpPr/>
          <p:nvPr/>
        </p:nvSpPr>
        <p:spPr>
          <a:xfrm>
            <a:off x="640080" y="5047488"/>
            <a:ext cx="594360" cy="59436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Calibri"/>
              </a:rPr>
              <a:t>✓</a:t>
            </a:r>
          </a:p>
        </p:txBody>
      </p:sp>
      <p:sp>
        <p:nvSpPr>
          <p:cNvPr id="17" name="TextBox 16"/>
          <p:cNvSpPr txBox="1"/>
          <p:nvPr/>
        </p:nvSpPr>
        <p:spPr>
          <a:xfrm>
            <a:off x="1417320" y="4965192"/>
            <a:ext cx="4572000" cy="411480"/>
          </a:xfrm>
          <a:prstGeom prst="rect">
            <a:avLst/>
          </a:prstGeom>
          <a:noFill/>
        </p:spPr>
        <p:txBody>
          <a:bodyPr wrap="square" lIns="0" tIns="0" rIns="0" bIns="0">
            <a:spAutoFit/>
          </a:bodyPr>
          <a:lstStyle/>
          <a:p>
            <a:pPr algn="l"/>
            <a:r>
              <a:rPr sz="1450" b="1">
                <a:solidFill>
                  <a:srgbClr val="2F3C7E"/>
                </a:solidFill>
                <a:latin typeface="Calibri"/>
              </a:rPr>
              <a:t>Mua dịch vụ SAU khi đã điểm danh</a:t>
            </a:r>
          </a:p>
        </p:txBody>
      </p:sp>
      <p:sp>
        <p:nvSpPr>
          <p:cNvPr id="18" name="TextBox 17"/>
          <p:cNvSpPr txBox="1"/>
          <p:nvPr/>
        </p:nvSpPr>
        <p:spPr>
          <a:xfrm>
            <a:off x="6126480" y="4965192"/>
            <a:ext cx="5486400" cy="777240"/>
          </a:xfrm>
          <a:prstGeom prst="rect">
            <a:avLst/>
          </a:prstGeom>
          <a:noFill/>
        </p:spPr>
        <p:txBody>
          <a:bodyPr wrap="square" lIns="0" tIns="0" rIns="0" bIns="0">
            <a:spAutoFit/>
          </a:bodyPr>
          <a:lstStyle/>
          <a:p>
            <a:pPr algn="l"/>
            <a:r>
              <a:rPr sz="1250" i="1">
                <a:solidFill>
                  <a:srgbClr val="5A5F73"/>
                </a:solidFill>
                <a:latin typeface="Calibri"/>
              </a:rPr>
              <a:t>2 nước suối + 1 buổi PT = 220.000 đ</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4" y="68579"/>
            <a:ext cx="11091672" cy="640080"/>
          </a:xfrm>
          <a:prstGeom prst="rect">
            <a:avLst/>
          </a:prstGeom>
          <a:noFill/>
          <a:ln/>
        </p:spPr>
        <p:txBody>
          <a:bodyPr wrap="square" lIns="0" tIns="0" rIns="0" bIns="0" rtlCol="0" anchor="ctr"/>
          <a:lstStyle/>
          <a:p>
            <a:pPr marL="0" indent="0" algn="ctr">
              <a:buNone/>
            </a:pPr>
            <a:r>
              <a:rPr lang="en-US" sz="2500" b="1" dirty="0">
                <a:ea typeface="Cambria" pitchFamily="34" charset="-122"/>
                <a:cs typeface="Cambria" pitchFamily="34" charset="-120"/>
              </a:rPr>
              <a:t>			</a:t>
            </a:r>
            <a:r>
              <a:rPr lang="en-US" sz="2500" b="1" dirty="0" err="1">
                <a:ea typeface="Cambria" pitchFamily="34" charset="-122"/>
                <a:cs typeface="Cambria" pitchFamily="34" charset="-120"/>
              </a:rPr>
              <a:t>Kỹ</a:t>
            </a:r>
            <a:r>
              <a:rPr lang="en-US" sz="2500" b="1" dirty="0">
                <a:ea typeface="Cambria" pitchFamily="34" charset="-122"/>
                <a:cs typeface="Cambria" pitchFamily="34" charset="-120"/>
              </a:rPr>
              <a:t> thuật nổi bật: thanh toán nhiều đợt, không tính trùng</a:t>
            </a:r>
            <a:endParaRPr lang="en-US" sz="2500" dirty="0"/>
          </a:p>
        </p:txBody>
      </p:sp>
      <p:sp>
        <p:nvSpPr>
          <p:cNvPr id="3" name="Shape 1"/>
          <p:cNvSpPr/>
          <p:nvPr/>
        </p:nvSpPr>
        <p:spPr>
          <a:xfrm>
            <a:off x="548640" y="1051560"/>
            <a:ext cx="5394960" cy="4572000"/>
          </a:xfrm>
          <a:prstGeom prst="roundRect">
            <a:avLst>
              <a:gd name="adj" fmla="val 2400"/>
            </a:avLst>
          </a:prstGeom>
          <a:solidFill>
            <a:srgbClr val="F5F6FA"/>
          </a:solidFill>
          <a:ln/>
        </p:spPr>
        <p:txBody>
          <a:bodyPr/>
          <a:lstStyle/>
          <a:p>
            <a:endParaRPr lang="vi-VN" dirty="0"/>
          </a:p>
        </p:txBody>
      </p:sp>
      <p:sp>
        <p:nvSpPr>
          <p:cNvPr id="4" name="Shape 2"/>
          <p:cNvSpPr/>
          <p:nvPr/>
        </p:nvSpPr>
        <p:spPr>
          <a:xfrm>
            <a:off x="868680" y="1325880"/>
            <a:ext cx="777240" cy="777240"/>
          </a:xfrm>
          <a:prstGeom prst="ellipse">
            <a:avLst/>
          </a:prstGeom>
          <a:solidFill>
            <a:srgbClr val="2F3C7E"/>
          </a:solidFill>
          <a:ln/>
        </p:spPr>
        <p:txBody>
          <a:bodyPr/>
          <a:lstStyle/>
          <a:p>
            <a:endParaRPr lang="vi-VN"/>
          </a:p>
        </p:txBody>
      </p:sp>
      <p:pic>
        <p:nvPicPr>
          <p:cNvPr id="5" name="Image 0" descr="preencoded.png"/>
          <p:cNvPicPr>
            <a:picLocks noChangeAspect="1"/>
          </p:cNvPicPr>
          <p:nvPr/>
        </p:nvPicPr>
        <p:blipFill>
          <a:blip r:embed="rId3"/>
          <a:stretch>
            <a:fillRect/>
          </a:stretch>
        </p:blipFill>
        <p:spPr>
          <a:xfrm>
            <a:off x="1055218" y="1512418"/>
            <a:ext cx="404165" cy="404165"/>
          </a:xfrm>
          <a:prstGeom prst="rect">
            <a:avLst/>
          </a:prstGeom>
        </p:spPr>
      </p:pic>
      <p:sp>
        <p:nvSpPr>
          <p:cNvPr id="6" name="Text 3"/>
          <p:cNvSpPr/>
          <p:nvPr/>
        </p:nvSpPr>
        <p:spPr>
          <a:xfrm>
            <a:off x="1783080" y="1435608"/>
            <a:ext cx="4023360" cy="457200"/>
          </a:xfrm>
          <a:prstGeom prst="rect">
            <a:avLst/>
          </a:prstGeom>
          <a:noFill/>
          <a:ln/>
        </p:spPr>
        <p:txBody>
          <a:bodyPr wrap="square" lIns="0" tIns="0" rIns="0" bIns="0" rtlCol="0" anchor="ctr"/>
          <a:lstStyle/>
          <a:p>
            <a:pPr marL="0" indent="0">
              <a:buNone/>
            </a:pPr>
            <a:r>
              <a:rPr lang="en-US" sz="1800" b="1" dirty="0">
                <a:ea typeface="Cambria" pitchFamily="34" charset="-122"/>
                <a:cs typeface="Cambria" pitchFamily="34" charset="-120"/>
              </a:rPr>
              <a:t>Vấn đề thực tế</a:t>
            </a:r>
            <a:endParaRPr lang="en-US" sz="1800" dirty="0"/>
          </a:p>
        </p:txBody>
      </p:sp>
      <p:sp>
        <p:nvSpPr>
          <p:cNvPr id="7" name="Text 4"/>
          <p:cNvSpPr/>
          <p:nvPr/>
        </p:nvSpPr>
        <p:spPr>
          <a:xfrm>
            <a:off x="914400" y="2057400"/>
            <a:ext cx="4754880" cy="1371600"/>
          </a:xfrm>
          <a:prstGeom prst="rect">
            <a:avLst/>
          </a:prstGeom>
          <a:noFill/>
          <a:ln/>
        </p:spPr>
        <p:txBody>
          <a:bodyPr wrap="square" lIns="0" tIns="0" rIns="0" bIns="0" rtlCol="0" anchor="ctr"/>
          <a:lstStyle/>
          <a:p>
            <a:pPr marL="0" indent="0">
              <a:buNone/>
            </a:pPr>
            <a:r>
              <a:rPr lang="en-US" sz="1350" dirty="0">
                <a:ea typeface="Calibri" pitchFamily="34" charset="-122"/>
                <a:cs typeface="Calibri" pitchFamily="34" charset="-120"/>
              </a:rPr>
              <a:t>Dịch vụ có thể phát sinh vào nhiều ngày khác nhau sau lần thanh toán đầu tiên — nếu chỉ cho thanh toán 1 lần, các khoản phát sinh sau sẽ không có cách nào thu tiền.</a:t>
            </a:r>
            <a:endParaRPr lang="en-US" sz="1350" dirty="0"/>
          </a:p>
        </p:txBody>
      </p:sp>
      <p:sp>
        <p:nvSpPr>
          <p:cNvPr id="8" name="Text 5"/>
          <p:cNvSpPr/>
          <p:nvPr/>
        </p:nvSpPr>
        <p:spPr>
          <a:xfrm>
            <a:off x="914400" y="3520440"/>
            <a:ext cx="4754880" cy="1920240"/>
          </a:xfrm>
          <a:prstGeom prst="rect">
            <a:avLst/>
          </a:prstGeom>
          <a:noFill/>
          <a:ln/>
        </p:spPr>
        <p:txBody>
          <a:bodyPr wrap="square" rtlCol="0" anchor="ctr"/>
          <a:lstStyle/>
          <a:p>
            <a:pPr marL="342900" indent="-342900">
              <a:spcAft>
                <a:spcPts val="1000"/>
              </a:spcAft>
              <a:buSzPct val="100000"/>
              <a:buChar char="✓"/>
            </a:pPr>
            <a:r>
              <a:rPr lang="en-US" sz="1300" dirty="0">
                <a:ea typeface="Calibri" pitchFamily="34" charset="-122"/>
                <a:cs typeface="Calibri" pitchFamily="34" charset="-120"/>
              </a:rPr>
              <a:t>Thêm cột Da_Tinh_Tien vào bảng su_dung_dich_vu</a:t>
            </a:r>
            <a:endParaRPr lang="en-US" sz="1300" dirty="0"/>
          </a:p>
          <a:p>
            <a:pPr marL="342900" indent="-342900">
              <a:spcAft>
                <a:spcPts val="1000"/>
              </a:spcAft>
              <a:buSzPct val="100000"/>
              <a:buChar char="✓"/>
            </a:pPr>
            <a:r>
              <a:rPr lang="en-US" sz="1300" dirty="0">
                <a:ea typeface="Calibri" pitchFamily="34" charset="-122"/>
                <a:cs typeface="Calibri" pitchFamily="34" charset="-120"/>
              </a:rPr>
              <a:t>Lần thanh toán đầu: tính tiền gói + mở khóa phiếu</a:t>
            </a:r>
            <a:endParaRPr lang="en-US" sz="1300" dirty="0"/>
          </a:p>
          <a:p>
            <a:pPr marL="342900" indent="-342900">
              <a:spcAft>
                <a:spcPts val="1000"/>
              </a:spcAft>
              <a:buSzPct val="100000"/>
              <a:buChar char="✓"/>
            </a:pPr>
            <a:r>
              <a:rPr lang="en-US" sz="1300" dirty="0">
                <a:ea typeface="Calibri" pitchFamily="34" charset="-122"/>
                <a:cs typeface="Calibri" pitchFamily="34" charset="-120"/>
              </a:rPr>
              <a:t>Các lần sau: chỉ cộng dịch vụ có Da_Tinh_Tien = 0</a:t>
            </a:r>
            <a:endParaRPr lang="en-US" sz="1300" dirty="0"/>
          </a:p>
          <a:p>
            <a:pPr marL="342900" indent="-342900">
              <a:spcAft>
                <a:spcPts val="1000"/>
              </a:spcAft>
              <a:buSzPct val="100000"/>
              <a:buChar char="✓"/>
            </a:pPr>
            <a:r>
              <a:rPr lang="en-US" sz="1300" dirty="0">
                <a:ea typeface="Calibri" pitchFamily="34" charset="-122"/>
                <a:cs typeface="Calibri" pitchFamily="34" charset="-120"/>
              </a:rPr>
              <a:t>Sau khi thanh toán: đánh dấu Da_Tinh_Tien = 1</a:t>
            </a:r>
            <a:endParaRPr lang="en-US" sz="1300" dirty="0"/>
          </a:p>
        </p:txBody>
      </p:sp>
      <p:sp>
        <p:nvSpPr>
          <p:cNvPr id="9" name="Shape 6"/>
          <p:cNvSpPr/>
          <p:nvPr/>
        </p:nvSpPr>
        <p:spPr>
          <a:xfrm>
            <a:off x="6309360" y="1051560"/>
            <a:ext cx="5330952" cy="4572000"/>
          </a:xfrm>
          <a:prstGeom prst="roundRect">
            <a:avLst>
              <a:gd name="adj" fmla="val 2400"/>
            </a:avLst>
          </a:prstGeom>
          <a:solidFill>
            <a:srgbClr val="222B5C"/>
          </a:solidFill>
          <a:ln/>
        </p:spPr>
        <p:txBody>
          <a:bodyPr/>
          <a:lstStyle/>
          <a:p>
            <a:endParaRPr lang="vi-VN"/>
          </a:p>
        </p:txBody>
      </p:sp>
      <p:sp>
        <p:nvSpPr>
          <p:cNvPr id="10" name="Text 7"/>
          <p:cNvSpPr/>
          <p:nvPr/>
        </p:nvSpPr>
        <p:spPr>
          <a:xfrm>
            <a:off x="6629400" y="1280160"/>
            <a:ext cx="4663440" cy="411480"/>
          </a:xfrm>
          <a:prstGeom prst="rect">
            <a:avLst/>
          </a:prstGeom>
          <a:noFill/>
          <a:ln/>
        </p:spPr>
        <p:txBody>
          <a:bodyPr wrap="square" lIns="0" tIns="0" rIns="0" bIns="0" rtlCol="0" anchor="ctr"/>
          <a:lstStyle/>
          <a:p>
            <a:pPr marL="0" indent="0">
              <a:buNone/>
            </a:pPr>
            <a:r>
              <a:rPr lang="en-US" sz="1500" b="1" dirty="0">
                <a:solidFill>
                  <a:schemeClr val="bg1"/>
                </a:solidFill>
                <a:ea typeface="Calibri" pitchFamily="34" charset="-122"/>
                <a:cs typeface="Calibri" pitchFamily="34" charset="-120"/>
              </a:rPr>
              <a:t>Kết quả trên phiếu #1</a:t>
            </a:r>
            <a:endParaRPr lang="en-US" sz="1500" dirty="0">
              <a:solidFill>
                <a:schemeClr val="bg1"/>
              </a:solidFill>
            </a:endParaRPr>
          </a:p>
        </p:txBody>
      </p:sp>
      <p:sp>
        <p:nvSpPr>
          <p:cNvPr id="11" name="Shape 8"/>
          <p:cNvSpPr/>
          <p:nvPr/>
        </p:nvSpPr>
        <p:spPr>
          <a:xfrm>
            <a:off x="6629400" y="1828800"/>
            <a:ext cx="4709160" cy="777240"/>
          </a:xfrm>
          <a:prstGeom prst="roundRect">
            <a:avLst>
              <a:gd name="adj" fmla="val 9412"/>
            </a:avLst>
          </a:prstGeom>
          <a:solidFill>
            <a:srgbClr val="1836B2"/>
          </a:solidFill>
          <a:ln/>
        </p:spPr>
        <p:txBody>
          <a:bodyPr/>
          <a:lstStyle/>
          <a:p>
            <a:endParaRPr lang="vi-VN" dirty="0"/>
          </a:p>
        </p:txBody>
      </p:sp>
      <p:sp>
        <p:nvSpPr>
          <p:cNvPr id="12" name="Text 9"/>
          <p:cNvSpPr/>
          <p:nvPr/>
        </p:nvSpPr>
        <p:spPr>
          <a:xfrm>
            <a:off x="6812280" y="1901952"/>
            <a:ext cx="914400" cy="320040"/>
          </a:xfrm>
          <a:prstGeom prst="rect">
            <a:avLst/>
          </a:prstGeom>
          <a:noFill/>
          <a:ln/>
        </p:spPr>
        <p:txBody>
          <a:bodyPr wrap="square" lIns="0" tIns="0" rIns="0" bIns="0" rtlCol="0" anchor="ctr"/>
          <a:lstStyle/>
          <a:p>
            <a:pPr marL="0" indent="0">
              <a:buNone/>
            </a:pPr>
            <a:r>
              <a:rPr lang="en-US" sz="1200" b="1" dirty="0">
                <a:solidFill>
                  <a:schemeClr val="bg1"/>
                </a:solidFill>
                <a:ea typeface="Calibri" pitchFamily="34" charset="-122"/>
                <a:cs typeface="Calibri" pitchFamily="34" charset="-120"/>
              </a:rPr>
              <a:t>Đợt 1</a:t>
            </a:r>
            <a:endParaRPr lang="en-US" sz="1200" dirty="0">
              <a:solidFill>
                <a:schemeClr val="bg1"/>
              </a:solidFill>
            </a:endParaRPr>
          </a:p>
        </p:txBody>
      </p:sp>
      <p:sp>
        <p:nvSpPr>
          <p:cNvPr id="13" name="Text 10"/>
          <p:cNvSpPr/>
          <p:nvPr/>
        </p:nvSpPr>
        <p:spPr>
          <a:xfrm>
            <a:off x="6812280" y="2176272"/>
            <a:ext cx="3017520" cy="365760"/>
          </a:xfrm>
          <a:prstGeom prst="rect">
            <a:avLst/>
          </a:prstGeom>
          <a:noFill/>
          <a:ln/>
        </p:spPr>
        <p:txBody>
          <a:bodyPr wrap="square" lIns="0" tIns="0" rIns="0" bIns="0" rtlCol="0" anchor="ctr"/>
          <a:lstStyle/>
          <a:p>
            <a:pPr marL="0" indent="0">
              <a:buNone/>
            </a:pPr>
            <a:r>
              <a:rPr lang="en-US" sz="1250" dirty="0">
                <a:solidFill>
                  <a:schemeClr val="bg1"/>
                </a:solidFill>
                <a:ea typeface="Calibri" pitchFamily="34" charset="-122"/>
                <a:cs typeface="Calibri" pitchFamily="34" charset="-120"/>
              </a:rPr>
              <a:t>Tiền gói (3 tháng)</a:t>
            </a:r>
            <a:endParaRPr lang="en-US" sz="1250" dirty="0">
              <a:solidFill>
                <a:schemeClr val="bg1"/>
              </a:solidFill>
            </a:endParaRPr>
          </a:p>
        </p:txBody>
      </p:sp>
      <p:sp>
        <p:nvSpPr>
          <p:cNvPr id="14" name="Text 11"/>
          <p:cNvSpPr/>
          <p:nvPr/>
        </p:nvSpPr>
        <p:spPr>
          <a:xfrm>
            <a:off x="9692640" y="2029968"/>
            <a:ext cx="1554480" cy="411480"/>
          </a:xfrm>
          <a:prstGeom prst="rect">
            <a:avLst/>
          </a:prstGeom>
          <a:noFill/>
          <a:ln/>
        </p:spPr>
        <p:txBody>
          <a:bodyPr wrap="square" lIns="0" tIns="0" rIns="0" bIns="0" rtlCol="0" anchor="ctr"/>
          <a:lstStyle/>
          <a:p>
            <a:pPr marL="0" indent="0" algn="r">
              <a:buNone/>
            </a:pPr>
            <a:r>
              <a:rPr lang="en-US" sz="1400" b="1" dirty="0">
                <a:solidFill>
                  <a:schemeClr val="bg1"/>
                </a:solidFill>
                <a:ea typeface="Calibri" pitchFamily="34" charset="-122"/>
                <a:cs typeface="Calibri" pitchFamily="34" charset="-120"/>
              </a:rPr>
              <a:t>800.000 đ</a:t>
            </a:r>
            <a:endParaRPr lang="en-US" sz="1400" dirty="0">
              <a:solidFill>
                <a:schemeClr val="bg1"/>
              </a:solidFill>
            </a:endParaRPr>
          </a:p>
        </p:txBody>
      </p:sp>
      <p:sp>
        <p:nvSpPr>
          <p:cNvPr id="15" name="Shape 12"/>
          <p:cNvSpPr/>
          <p:nvPr/>
        </p:nvSpPr>
        <p:spPr>
          <a:xfrm>
            <a:off x="6629400" y="2788920"/>
            <a:ext cx="4709160" cy="777240"/>
          </a:xfrm>
          <a:prstGeom prst="roundRect">
            <a:avLst>
              <a:gd name="adj" fmla="val 9412"/>
            </a:avLst>
          </a:prstGeom>
          <a:solidFill>
            <a:srgbClr val="1836B2"/>
          </a:solidFill>
          <a:ln/>
        </p:spPr>
        <p:txBody>
          <a:bodyPr/>
          <a:lstStyle/>
          <a:p>
            <a:endParaRPr lang="vi-VN"/>
          </a:p>
        </p:txBody>
      </p:sp>
      <p:sp>
        <p:nvSpPr>
          <p:cNvPr id="16" name="Text 13"/>
          <p:cNvSpPr/>
          <p:nvPr/>
        </p:nvSpPr>
        <p:spPr>
          <a:xfrm>
            <a:off x="6812280" y="2862072"/>
            <a:ext cx="914400" cy="320040"/>
          </a:xfrm>
          <a:prstGeom prst="rect">
            <a:avLst/>
          </a:prstGeom>
          <a:noFill/>
          <a:ln/>
        </p:spPr>
        <p:txBody>
          <a:bodyPr wrap="square" lIns="0" tIns="0" rIns="0" bIns="0" rtlCol="0" anchor="ctr"/>
          <a:lstStyle/>
          <a:p>
            <a:pPr marL="0" indent="0">
              <a:buNone/>
            </a:pPr>
            <a:r>
              <a:rPr lang="en-US" sz="1200" b="1" dirty="0">
                <a:solidFill>
                  <a:schemeClr val="bg1"/>
                </a:solidFill>
                <a:ea typeface="Calibri" pitchFamily="34" charset="-122"/>
                <a:cs typeface="Calibri" pitchFamily="34" charset="-120"/>
              </a:rPr>
              <a:t>Đợt 2</a:t>
            </a:r>
            <a:endParaRPr lang="en-US" sz="1200" dirty="0">
              <a:solidFill>
                <a:schemeClr val="bg1"/>
              </a:solidFill>
            </a:endParaRPr>
          </a:p>
        </p:txBody>
      </p:sp>
      <p:sp>
        <p:nvSpPr>
          <p:cNvPr id="17" name="Text 14"/>
          <p:cNvSpPr/>
          <p:nvPr/>
        </p:nvSpPr>
        <p:spPr>
          <a:xfrm>
            <a:off x="6812280" y="3136392"/>
            <a:ext cx="3017520" cy="365760"/>
          </a:xfrm>
          <a:prstGeom prst="rect">
            <a:avLst/>
          </a:prstGeom>
          <a:noFill/>
          <a:ln/>
        </p:spPr>
        <p:txBody>
          <a:bodyPr wrap="square" lIns="0" tIns="0" rIns="0" bIns="0" rtlCol="0" anchor="ctr"/>
          <a:lstStyle/>
          <a:p>
            <a:pPr marL="0" indent="0">
              <a:buNone/>
            </a:pPr>
            <a:r>
              <a:rPr lang="en-US" sz="1250" dirty="0">
                <a:solidFill>
                  <a:schemeClr val="bg1"/>
                </a:solidFill>
                <a:ea typeface="Calibri" pitchFamily="34" charset="-122"/>
                <a:cs typeface="Calibri" pitchFamily="34" charset="-120"/>
              </a:rPr>
              <a:t>2 nước suối + 1 buổi PT</a:t>
            </a:r>
            <a:endParaRPr lang="en-US" sz="1250" dirty="0">
              <a:solidFill>
                <a:schemeClr val="bg1"/>
              </a:solidFill>
            </a:endParaRPr>
          </a:p>
        </p:txBody>
      </p:sp>
      <p:sp>
        <p:nvSpPr>
          <p:cNvPr id="18" name="Text 15"/>
          <p:cNvSpPr/>
          <p:nvPr/>
        </p:nvSpPr>
        <p:spPr>
          <a:xfrm>
            <a:off x="9692640" y="2990088"/>
            <a:ext cx="1554480" cy="411480"/>
          </a:xfrm>
          <a:prstGeom prst="rect">
            <a:avLst/>
          </a:prstGeom>
          <a:noFill/>
          <a:ln/>
        </p:spPr>
        <p:txBody>
          <a:bodyPr wrap="square" lIns="0" tIns="0" rIns="0" bIns="0" rtlCol="0" anchor="ctr"/>
          <a:lstStyle/>
          <a:p>
            <a:pPr marL="0" indent="0" algn="r">
              <a:buNone/>
            </a:pPr>
            <a:r>
              <a:rPr lang="en-US" sz="1400" b="1" dirty="0">
                <a:solidFill>
                  <a:schemeClr val="bg1"/>
                </a:solidFill>
                <a:ea typeface="Calibri" pitchFamily="34" charset="-122"/>
                <a:cs typeface="Calibri" pitchFamily="34" charset="-120"/>
              </a:rPr>
              <a:t>220.000 đ</a:t>
            </a:r>
            <a:endParaRPr lang="en-US" sz="1400" dirty="0">
              <a:solidFill>
                <a:schemeClr val="bg1"/>
              </a:solidFill>
            </a:endParaRPr>
          </a:p>
        </p:txBody>
      </p:sp>
      <p:sp>
        <p:nvSpPr>
          <p:cNvPr id="19" name="Shape 16"/>
          <p:cNvSpPr/>
          <p:nvPr/>
        </p:nvSpPr>
        <p:spPr>
          <a:xfrm>
            <a:off x="6629400" y="3886200"/>
            <a:ext cx="4709160" cy="0"/>
          </a:xfrm>
          <a:prstGeom prst="line">
            <a:avLst/>
          </a:prstGeom>
          <a:noFill/>
          <a:ln w="12700">
            <a:solidFill>
              <a:srgbClr val="4A5590"/>
            </a:solidFill>
            <a:prstDash val="solid"/>
          </a:ln>
        </p:spPr>
        <p:txBody>
          <a:bodyPr/>
          <a:lstStyle/>
          <a:p>
            <a:endParaRPr lang="vi-VN"/>
          </a:p>
        </p:txBody>
      </p:sp>
      <p:sp>
        <p:nvSpPr>
          <p:cNvPr id="20" name="Text 17"/>
          <p:cNvSpPr/>
          <p:nvPr/>
        </p:nvSpPr>
        <p:spPr>
          <a:xfrm>
            <a:off x="6629400" y="4023360"/>
            <a:ext cx="2286000" cy="457200"/>
          </a:xfrm>
          <a:prstGeom prst="rect">
            <a:avLst/>
          </a:prstGeom>
          <a:noFill/>
          <a:ln/>
        </p:spPr>
        <p:txBody>
          <a:bodyPr wrap="square" lIns="0" tIns="0" rIns="0" bIns="0" rtlCol="0" anchor="ctr"/>
          <a:lstStyle/>
          <a:p>
            <a:pPr marL="0" indent="0">
              <a:buNone/>
            </a:pPr>
            <a:r>
              <a:rPr lang="en-US" sz="1400" dirty="0">
                <a:solidFill>
                  <a:schemeClr val="bg1"/>
                </a:solidFill>
                <a:ea typeface="Calibri" pitchFamily="34" charset="-122"/>
                <a:cs typeface="Calibri" pitchFamily="34" charset="-120"/>
              </a:rPr>
              <a:t>Tổng thu:</a:t>
            </a:r>
            <a:endParaRPr lang="en-US" sz="1400" dirty="0">
              <a:solidFill>
                <a:schemeClr val="bg1"/>
              </a:solidFill>
            </a:endParaRPr>
          </a:p>
        </p:txBody>
      </p:sp>
      <p:sp>
        <p:nvSpPr>
          <p:cNvPr id="21" name="Text 18"/>
          <p:cNvSpPr/>
          <p:nvPr/>
        </p:nvSpPr>
        <p:spPr>
          <a:xfrm>
            <a:off x="8686800" y="3977640"/>
            <a:ext cx="2651760" cy="548640"/>
          </a:xfrm>
          <a:prstGeom prst="rect">
            <a:avLst/>
          </a:prstGeom>
          <a:noFill/>
          <a:ln/>
        </p:spPr>
        <p:txBody>
          <a:bodyPr wrap="square" lIns="0" tIns="0" rIns="0" bIns="0" rtlCol="0" anchor="ctr"/>
          <a:lstStyle/>
          <a:p>
            <a:pPr marL="0" indent="0" algn="r">
              <a:buNone/>
            </a:pPr>
            <a:r>
              <a:rPr lang="en-US" sz="2200" b="1" dirty="0">
                <a:solidFill>
                  <a:schemeClr val="bg1"/>
                </a:solidFill>
                <a:ea typeface="Cambria" pitchFamily="34" charset="-122"/>
                <a:cs typeface="Cambria" pitchFamily="34" charset="-120"/>
              </a:rPr>
              <a:t>1.020.000 đ</a:t>
            </a:r>
            <a:endParaRPr lang="en-US" sz="2200" dirty="0">
              <a:solidFill>
                <a:schemeClr val="bg1"/>
              </a:solidFill>
            </a:endParaRPr>
          </a:p>
        </p:txBody>
      </p:sp>
      <p:sp>
        <p:nvSpPr>
          <p:cNvPr id="22" name="Text 19"/>
          <p:cNvSpPr/>
          <p:nvPr/>
        </p:nvSpPr>
        <p:spPr>
          <a:xfrm>
            <a:off x="6629400" y="4709160"/>
            <a:ext cx="4709160" cy="822960"/>
          </a:xfrm>
          <a:prstGeom prst="rect">
            <a:avLst/>
          </a:prstGeom>
          <a:noFill/>
          <a:ln/>
        </p:spPr>
        <p:txBody>
          <a:bodyPr wrap="square" lIns="0" tIns="0" rIns="0" bIns="0" rtlCol="0" anchor="ctr"/>
          <a:lstStyle/>
          <a:p>
            <a:pPr marL="0" indent="0">
              <a:buNone/>
            </a:pPr>
            <a:r>
              <a:rPr lang="en-US" sz="1150" i="1" dirty="0">
                <a:solidFill>
                  <a:schemeClr val="bg1"/>
                </a:solidFill>
                <a:ea typeface="Calibri" pitchFamily="34" charset="-122"/>
                <a:cs typeface="Calibri" pitchFamily="34" charset="-120"/>
              </a:rPr>
              <a:t>2 dòng hóa đơn riêng biệt cho cùng 1 phiếu — mỗi dịch vụ chỉ bị tính tiền đúng 1 lần dù thanh toán bao nhiêu đợt.</a:t>
            </a:r>
            <a:endParaRPr lang="en-US" sz="1150" dirty="0">
              <a:solidFill>
                <a:schemeClr val="bg1"/>
              </a:solidFill>
            </a:endParaRPr>
          </a:p>
        </p:txBody>
      </p:sp>
      <p:pic>
        <p:nvPicPr>
          <p:cNvPr id="9007" name="UIT Logo Mark" descr="UIT logo"/>
          <p:cNvPicPr>
            <a:picLocks noChangeAspect="1"/>
          </p:cNvPicPr>
          <p:nvPr/>
        </p:nvPicPr>
        <p:blipFill>
          <a:blip r:embed="rId4"/>
          <a:stretch>
            <a:fillRect/>
          </a:stretch>
        </p:blipFill>
        <p:spPr>
          <a:xfrm>
            <a:off x="0" y="-25604"/>
            <a:ext cx="3373886" cy="8942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40080"/>
          </a:xfrm>
          <a:prstGeom prst="rect">
            <a:avLst/>
          </a:prstGeom>
          <a:noFill/>
          <a:ln/>
        </p:spPr>
        <p:txBody>
          <a:bodyPr wrap="square" lIns="0" tIns="0" rIns="0" bIns="0" rtlCol="0" anchor="ctr"/>
          <a:lstStyle/>
          <a:p>
            <a:pPr marL="0" indent="0" algn="ctr">
              <a:buNone/>
            </a:pPr>
            <a:r>
              <a:rPr lang="en-US" sz="2800" b="1" dirty="0">
                <a:ea typeface="Cambria" pitchFamily="34" charset="-122"/>
                <a:cs typeface="Cambria" pitchFamily="34" charset="-120"/>
              </a:rPr>
              <a:t>Hiển thị dữ liệu thay đổi</a:t>
            </a:r>
            <a:endParaRPr lang="en-US" sz="2800" dirty="0"/>
          </a:p>
        </p:txBody>
      </p:sp>
      <p:sp>
        <p:nvSpPr>
          <p:cNvPr id="3" name="Shape 1"/>
          <p:cNvSpPr/>
          <p:nvPr/>
        </p:nvSpPr>
        <p:spPr>
          <a:xfrm>
            <a:off x="548640" y="1143000"/>
            <a:ext cx="5394960" cy="2103120"/>
          </a:xfrm>
          <a:prstGeom prst="roundRect">
            <a:avLst>
              <a:gd name="adj" fmla="val 5217"/>
            </a:avLst>
          </a:prstGeom>
          <a:solidFill>
            <a:srgbClr val="F5F6FA"/>
          </a:solidFill>
          <a:ln/>
        </p:spPr>
        <p:txBody>
          <a:bodyPr/>
          <a:lstStyle/>
          <a:p>
            <a:endParaRPr lang="vi-VN"/>
          </a:p>
        </p:txBody>
      </p:sp>
      <p:sp>
        <p:nvSpPr>
          <p:cNvPr id="4" name="Shape 2"/>
          <p:cNvSpPr/>
          <p:nvPr/>
        </p:nvSpPr>
        <p:spPr>
          <a:xfrm>
            <a:off x="868680" y="1399032"/>
            <a:ext cx="777240" cy="777240"/>
          </a:xfrm>
          <a:prstGeom prst="ellipse">
            <a:avLst/>
          </a:prstGeom>
          <a:solidFill>
            <a:srgbClr val="2F3C7E"/>
          </a:solidFill>
          <a:ln/>
        </p:spPr>
        <p:txBody>
          <a:bodyPr/>
          <a:lstStyle/>
          <a:p>
            <a:endParaRPr lang="vi-VN"/>
          </a:p>
        </p:txBody>
      </p:sp>
      <p:pic>
        <p:nvPicPr>
          <p:cNvPr id="5" name="Image 0" descr="preencoded.png"/>
          <p:cNvPicPr>
            <a:picLocks noChangeAspect="1"/>
          </p:cNvPicPr>
          <p:nvPr/>
        </p:nvPicPr>
        <p:blipFill>
          <a:blip r:embed="rId3"/>
          <a:stretch>
            <a:fillRect/>
          </a:stretch>
        </p:blipFill>
        <p:spPr>
          <a:xfrm>
            <a:off x="1055218" y="1585570"/>
            <a:ext cx="404165" cy="404165"/>
          </a:xfrm>
          <a:prstGeom prst="rect">
            <a:avLst/>
          </a:prstGeom>
        </p:spPr>
      </p:pic>
      <p:sp>
        <p:nvSpPr>
          <p:cNvPr id="6" name="Text 3"/>
          <p:cNvSpPr/>
          <p:nvPr/>
        </p:nvSpPr>
        <p:spPr>
          <a:xfrm>
            <a:off x="1783080" y="1508760"/>
            <a:ext cx="3931920" cy="457200"/>
          </a:xfrm>
          <a:prstGeom prst="rect">
            <a:avLst/>
          </a:prstGeom>
          <a:noFill/>
          <a:ln/>
        </p:spPr>
        <p:txBody>
          <a:bodyPr wrap="square" lIns="0" tIns="0" rIns="0" bIns="0" rtlCol="0" anchor="ctr"/>
          <a:lstStyle/>
          <a:p>
            <a:pPr marL="0" indent="0">
              <a:buNone/>
            </a:pPr>
            <a:r>
              <a:rPr lang="en-US" sz="1700" b="1" dirty="0">
                <a:ea typeface="Cambria" pitchFamily="34" charset="-122"/>
                <a:cs typeface="Cambria" pitchFamily="34" charset="-120"/>
              </a:rPr>
              <a:t>Làm mới tức thời</a:t>
            </a:r>
            <a:endParaRPr lang="en-US" sz="1700" dirty="0"/>
          </a:p>
        </p:txBody>
      </p:sp>
      <p:sp>
        <p:nvSpPr>
          <p:cNvPr id="7" name="Text 4"/>
          <p:cNvSpPr/>
          <p:nvPr/>
        </p:nvSpPr>
        <p:spPr>
          <a:xfrm>
            <a:off x="914400" y="2084832"/>
            <a:ext cx="4754880" cy="1005840"/>
          </a:xfrm>
          <a:prstGeom prst="rect">
            <a:avLst/>
          </a:prstGeom>
          <a:noFill/>
          <a:ln/>
        </p:spPr>
        <p:txBody>
          <a:bodyPr wrap="square" lIns="0" tIns="0" rIns="0" bIns="0" rtlCol="0" anchor="ctr"/>
          <a:lstStyle/>
          <a:p>
            <a:pPr marL="0" indent="0">
              <a:buNone/>
            </a:pPr>
            <a:r>
              <a:rPr lang="en-US" sz="1250" dirty="0">
                <a:ea typeface="Calibri" pitchFamily="34" charset="-122"/>
                <a:cs typeface="Calibri" pitchFamily="34" charset="-120"/>
              </a:rPr>
              <a:t>Mọi bảng Treeview nạp lại từ CSDL ngay sau mỗi thao tác — người dùng luôn thấy trạng thái mới nhất.</a:t>
            </a:r>
            <a:endParaRPr lang="en-US" sz="1250" dirty="0"/>
          </a:p>
        </p:txBody>
      </p:sp>
      <p:sp>
        <p:nvSpPr>
          <p:cNvPr id="8" name="Shape 5"/>
          <p:cNvSpPr/>
          <p:nvPr/>
        </p:nvSpPr>
        <p:spPr>
          <a:xfrm>
            <a:off x="548640" y="3429000"/>
            <a:ext cx="5394960" cy="2377440"/>
          </a:xfrm>
          <a:prstGeom prst="roundRect">
            <a:avLst>
              <a:gd name="adj" fmla="val 4615"/>
            </a:avLst>
          </a:prstGeom>
          <a:solidFill>
            <a:srgbClr val="F5F6FA"/>
          </a:solidFill>
          <a:ln/>
        </p:spPr>
        <p:txBody>
          <a:bodyPr/>
          <a:lstStyle/>
          <a:p>
            <a:endParaRPr lang="vi-VN"/>
          </a:p>
        </p:txBody>
      </p:sp>
      <p:sp>
        <p:nvSpPr>
          <p:cNvPr id="9" name="Shape 6"/>
          <p:cNvSpPr/>
          <p:nvPr/>
        </p:nvSpPr>
        <p:spPr>
          <a:xfrm>
            <a:off x="868680" y="3685032"/>
            <a:ext cx="777240" cy="777240"/>
          </a:xfrm>
          <a:prstGeom prst="ellipse">
            <a:avLst/>
          </a:prstGeom>
          <a:solidFill>
            <a:srgbClr val="1836B2"/>
          </a:solidFill>
          <a:ln/>
        </p:spPr>
        <p:txBody>
          <a:bodyPr/>
          <a:lstStyle/>
          <a:p>
            <a:endParaRPr lang="vi-VN"/>
          </a:p>
        </p:txBody>
      </p:sp>
      <p:pic>
        <p:nvPicPr>
          <p:cNvPr id="10" name="Image 1" descr="preencoded.png"/>
          <p:cNvPicPr>
            <a:picLocks noChangeAspect="1"/>
          </p:cNvPicPr>
          <p:nvPr/>
        </p:nvPicPr>
        <p:blipFill>
          <a:blip r:embed="rId4"/>
          <a:stretch>
            <a:fillRect/>
          </a:stretch>
        </p:blipFill>
        <p:spPr>
          <a:xfrm>
            <a:off x="1055218" y="3871570"/>
            <a:ext cx="404165" cy="404165"/>
          </a:xfrm>
          <a:prstGeom prst="rect">
            <a:avLst/>
          </a:prstGeom>
        </p:spPr>
      </p:pic>
      <p:sp>
        <p:nvSpPr>
          <p:cNvPr id="11" name="Text 7"/>
          <p:cNvSpPr/>
          <p:nvPr/>
        </p:nvSpPr>
        <p:spPr>
          <a:xfrm>
            <a:off x="1783080" y="3794760"/>
            <a:ext cx="4023360" cy="457200"/>
          </a:xfrm>
          <a:prstGeom prst="rect">
            <a:avLst/>
          </a:prstGeom>
          <a:noFill/>
          <a:ln/>
        </p:spPr>
        <p:txBody>
          <a:bodyPr wrap="square" lIns="0" tIns="0" rIns="0" bIns="0" rtlCol="0" anchor="ctr"/>
          <a:lstStyle/>
          <a:p>
            <a:pPr marL="0" indent="0">
              <a:buNone/>
            </a:pPr>
            <a:r>
              <a:rPr lang="en-US" sz="1700" b="1" dirty="0">
                <a:ea typeface="Cambria" pitchFamily="34" charset="-122"/>
                <a:cs typeface="Cambria" pitchFamily="34" charset="-120"/>
              </a:rPr>
              <a:t>Nhật ký thay đổi</a:t>
            </a:r>
            <a:endParaRPr lang="en-US" sz="1700" dirty="0"/>
          </a:p>
        </p:txBody>
      </p:sp>
      <p:sp>
        <p:nvSpPr>
          <p:cNvPr id="12" name="Text 8"/>
          <p:cNvSpPr/>
          <p:nvPr/>
        </p:nvSpPr>
        <p:spPr>
          <a:xfrm>
            <a:off x="914400" y="4370832"/>
            <a:ext cx="4754880" cy="1280160"/>
          </a:xfrm>
          <a:prstGeom prst="rect">
            <a:avLst/>
          </a:prstGeom>
          <a:noFill/>
          <a:ln/>
        </p:spPr>
        <p:txBody>
          <a:bodyPr wrap="square" lIns="0" tIns="0" rIns="0" bIns="0" rtlCol="0" anchor="ctr"/>
          <a:lstStyle/>
          <a:p>
            <a:pPr marL="0" indent="0">
              <a:buNone/>
            </a:pPr>
            <a:r>
              <a:rPr lang="en-US" sz="1250" dirty="0">
                <a:ea typeface="Calibri" pitchFamily="34" charset="-122"/>
                <a:cs typeface="Calibri" pitchFamily="34" charset="-120"/>
              </a:rPr>
              <a:t>Mọi thao tác (đăng ký, thanh toán, điểm danh, mua dịch vụ) đều ghi: thời gian — người thực hiện — hành động — chi tiết.</a:t>
            </a:r>
            <a:endParaRPr lang="en-US" sz="1250" dirty="0"/>
          </a:p>
        </p:txBody>
      </p:sp>
      <p:sp>
        <p:nvSpPr>
          <p:cNvPr id="13" name="Shape 9"/>
          <p:cNvSpPr/>
          <p:nvPr/>
        </p:nvSpPr>
        <p:spPr>
          <a:xfrm>
            <a:off x="6309360" y="1143000"/>
            <a:ext cx="5330952" cy="4663440"/>
          </a:xfrm>
          <a:prstGeom prst="roundRect">
            <a:avLst>
              <a:gd name="adj" fmla="val 2353"/>
            </a:avLst>
          </a:prstGeom>
          <a:solidFill>
            <a:srgbClr val="222B5C"/>
          </a:solidFill>
          <a:ln/>
        </p:spPr>
        <p:txBody>
          <a:bodyPr/>
          <a:lstStyle/>
          <a:p>
            <a:endParaRPr lang="vi-VN"/>
          </a:p>
        </p:txBody>
      </p:sp>
      <p:sp>
        <p:nvSpPr>
          <p:cNvPr id="14" name="Text 10"/>
          <p:cNvSpPr/>
          <p:nvPr/>
        </p:nvSpPr>
        <p:spPr>
          <a:xfrm>
            <a:off x="6629400" y="1371600"/>
            <a:ext cx="4663440" cy="411480"/>
          </a:xfrm>
          <a:prstGeom prst="rect">
            <a:avLst/>
          </a:prstGeom>
          <a:noFill/>
          <a:ln/>
        </p:spPr>
        <p:txBody>
          <a:bodyPr wrap="square" lIns="0" tIns="0" rIns="0" bIns="0" rtlCol="0" anchor="ctr"/>
          <a:lstStyle/>
          <a:p>
            <a:pPr marL="0" indent="0">
              <a:buNone/>
            </a:pPr>
            <a:r>
              <a:rPr lang="en-US" sz="1500" b="1" dirty="0">
                <a:solidFill>
                  <a:schemeClr val="bg1"/>
                </a:solidFill>
                <a:ea typeface="Calibri" pitchFamily="34" charset="-122"/>
                <a:cs typeface="Calibri" pitchFamily="34" charset="-120"/>
              </a:rPr>
              <a:t>Nhật ký (minh họa)</a:t>
            </a:r>
            <a:endParaRPr lang="en-US" sz="1500" dirty="0">
              <a:solidFill>
                <a:schemeClr val="bg1"/>
              </a:solidFill>
            </a:endParaRPr>
          </a:p>
        </p:txBody>
      </p:sp>
      <p:sp>
        <p:nvSpPr>
          <p:cNvPr id="15" name="Shape 11"/>
          <p:cNvSpPr/>
          <p:nvPr/>
        </p:nvSpPr>
        <p:spPr>
          <a:xfrm>
            <a:off x="6629400" y="1874520"/>
            <a:ext cx="4754880" cy="658368"/>
          </a:xfrm>
          <a:prstGeom prst="roundRect">
            <a:avLst>
              <a:gd name="adj" fmla="val 11111"/>
            </a:avLst>
          </a:prstGeom>
          <a:solidFill>
            <a:srgbClr val="1836B2"/>
          </a:solidFill>
          <a:ln/>
        </p:spPr>
        <p:txBody>
          <a:bodyPr/>
          <a:lstStyle/>
          <a:p>
            <a:endParaRPr lang="vi-VN"/>
          </a:p>
        </p:txBody>
      </p:sp>
      <p:sp>
        <p:nvSpPr>
          <p:cNvPr id="16" name="Text 12"/>
          <p:cNvSpPr/>
          <p:nvPr/>
        </p:nvSpPr>
        <p:spPr>
          <a:xfrm>
            <a:off x="6812280" y="1984248"/>
            <a:ext cx="4389120" cy="457200"/>
          </a:xfrm>
          <a:prstGeom prst="rect">
            <a:avLst/>
          </a:prstGeom>
          <a:noFill/>
          <a:ln/>
        </p:spPr>
        <p:txBody>
          <a:bodyPr wrap="square" lIns="0" tIns="0" rIns="0" bIns="0" rtlCol="0" anchor="ctr"/>
          <a:lstStyle/>
          <a:p>
            <a:pPr marL="0" indent="0">
              <a:buNone/>
            </a:pPr>
            <a:r>
              <a:rPr lang="en-US" sz="1150" b="1" dirty="0">
                <a:solidFill>
                  <a:schemeClr val="bg1"/>
                </a:solidFill>
                <a:ea typeface="Calibri" pitchFamily="34" charset="-122"/>
                <a:cs typeface="Calibri" pitchFamily="34" charset="-120"/>
              </a:rPr>
              <a:t>Thanh toán: </a:t>
            </a:r>
            <a:r>
              <a:rPr lang="en-US" sz="1150" dirty="0">
                <a:solidFill>
                  <a:schemeClr val="bg1"/>
                </a:solidFill>
                <a:ea typeface="Calibri" pitchFamily="34" charset="-122"/>
                <a:cs typeface="Calibri" pitchFamily="34" charset="-120"/>
              </a:rPr>
              <a:t>Phiếu 1, đợt 2, 220.000 đ</a:t>
            </a:r>
            <a:endParaRPr lang="en-US" sz="1150" dirty="0">
              <a:solidFill>
                <a:schemeClr val="bg1"/>
              </a:solidFill>
            </a:endParaRPr>
          </a:p>
        </p:txBody>
      </p:sp>
      <p:sp>
        <p:nvSpPr>
          <p:cNvPr id="17" name="Shape 13"/>
          <p:cNvSpPr/>
          <p:nvPr/>
        </p:nvSpPr>
        <p:spPr>
          <a:xfrm>
            <a:off x="6629400" y="2651760"/>
            <a:ext cx="4754880" cy="658368"/>
          </a:xfrm>
          <a:prstGeom prst="roundRect">
            <a:avLst>
              <a:gd name="adj" fmla="val 11111"/>
            </a:avLst>
          </a:prstGeom>
          <a:solidFill>
            <a:srgbClr val="1836B2"/>
          </a:solidFill>
          <a:ln/>
        </p:spPr>
        <p:txBody>
          <a:bodyPr/>
          <a:lstStyle/>
          <a:p>
            <a:endParaRPr lang="vi-VN"/>
          </a:p>
        </p:txBody>
      </p:sp>
      <p:sp>
        <p:nvSpPr>
          <p:cNvPr id="18" name="Text 14"/>
          <p:cNvSpPr/>
          <p:nvPr/>
        </p:nvSpPr>
        <p:spPr>
          <a:xfrm>
            <a:off x="6812280" y="2761488"/>
            <a:ext cx="4389120" cy="457200"/>
          </a:xfrm>
          <a:prstGeom prst="rect">
            <a:avLst/>
          </a:prstGeom>
          <a:noFill/>
          <a:ln/>
        </p:spPr>
        <p:txBody>
          <a:bodyPr wrap="square" lIns="0" tIns="0" rIns="0" bIns="0" rtlCol="0" anchor="ctr"/>
          <a:lstStyle/>
          <a:p>
            <a:pPr marL="0" indent="0">
              <a:buNone/>
            </a:pPr>
            <a:r>
              <a:rPr lang="en-US" sz="1150" b="1" dirty="0">
                <a:solidFill>
                  <a:schemeClr val="bg1"/>
                </a:solidFill>
                <a:ea typeface="Calibri" pitchFamily="34" charset="-122"/>
                <a:cs typeface="Calibri" pitchFamily="34" charset="-120"/>
              </a:rPr>
              <a:t>Thêm dịch vụ vào phiếu: </a:t>
            </a:r>
            <a:r>
              <a:rPr lang="en-US" sz="1150" dirty="0">
                <a:solidFill>
                  <a:schemeClr val="bg1"/>
                </a:solidFill>
                <a:ea typeface="Calibri" pitchFamily="34" charset="-122"/>
                <a:cs typeface="Calibri" pitchFamily="34" charset="-120"/>
              </a:rPr>
              <a:t>Phiếu 1: PT kèm 1 buổi x1</a:t>
            </a:r>
            <a:endParaRPr lang="en-US" sz="1150" dirty="0">
              <a:solidFill>
                <a:schemeClr val="bg1"/>
              </a:solidFill>
            </a:endParaRPr>
          </a:p>
        </p:txBody>
      </p:sp>
      <p:sp>
        <p:nvSpPr>
          <p:cNvPr id="19" name="Shape 15"/>
          <p:cNvSpPr/>
          <p:nvPr/>
        </p:nvSpPr>
        <p:spPr>
          <a:xfrm>
            <a:off x="6629400" y="3429000"/>
            <a:ext cx="4754880" cy="658368"/>
          </a:xfrm>
          <a:prstGeom prst="roundRect">
            <a:avLst>
              <a:gd name="adj" fmla="val 11111"/>
            </a:avLst>
          </a:prstGeom>
          <a:solidFill>
            <a:srgbClr val="1836B2"/>
          </a:solidFill>
          <a:ln/>
        </p:spPr>
        <p:txBody>
          <a:bodyPr/>
          <a:lstStyle/>
          <a:p>
            <a:endParaRPr lang="vi-VN"/>
          </a:p>
        </p:txBody>
      </p:sp>
      <p:sp>
        <p:nvSpPr>
          <p:cNvPr id="20" name="Text 16"/>
          <p:cNvSpPr/>
          <p:nvPr/>
        </p:nvSpPr>
        <p:spPr>
          <a:xfrm>
            <a:off x="6812280" y="3538728"/>
            <a:ext cx="4389120" cy="457200"/>
          </a:xfrm>
          <a:prstGeom prst="rect">
            <a:avLst/>
          </a:prstGeom>
          <a:noFill/>
          <a:ln/>
        </p:spPr>
        <p:txBody>
          <a:bodyPr wrap="square" lIns="0" tIns="0" rIns="0" bIns="0" rtlCol="0" anchor="ctr"/>
          <a:lstStyle/>
          <a:p>
            <a:pPr marL="0" indent="0">
              <a:buNone/>
            </a:pPr>
            <a:r>
              <a:rPr lang="en-US" sz="1150" b="1" dirty="0">
                <a:solidFill>
                  <a:schemeClr val="bg1"/>
                </a:solidFill>
                <a:ea typeface="Calibri" pitchFamily="34" charset="-122"/>
                <a:cs typeface="Calibri" pitchFamily="34" charset="-120"/>
              </a:rPr>
              <a:t>Điểm danh: </a:t>
            </a:r>
            <a:r>
              <a:rPr lang="en-US" sz="1150" dirty="0">
                <a:solidFill>
                  <a:schemeClr val="bg1"/>
                </a:solidFill>
                <a:ea typeface="Calibri" pitchFamily="34" charset="-122"/>
                <a:cs typeface="Calibri" pitchFamily="34" charset="-120"/>
              </a:rPr>
              <a:t>Phiếu 1 check-in</a:t>
            </a:r>
            <a:endParaRPr lang="en-US" sz="1150" dirty="0">
              <a:solidFill>
                <a:schemeClr val="bg1"/>
              </a:solidFill>
            </a:endParaRPr>
          </a:p>
        </p:txBody>
      </p:sp>
      <p:sp>
        <p:nvSpPr>
          <p:cNvPr id="21" name="Shape 17"/>
          <p:cNvSpPr/>
          <p:nvPr/>
        </p:nvSpPr>
        <p:spPr>
          <a:xfrm>
            <a:off x="6629400" y="4206240"/>
            <a:ext cx="4754880" cy="658368"/>
          </a:xfrm>
          <a:prstGeom prst="roundRect">
            <a:avLst>
              <a:gd name="adj" fmla="val 11111"/>
            </a:avLst>
          </a:prstGeom>
          <a:solidFill>
            <a:srgbClr val="1836B2"/>
          </a:solidFill>
          <a:ln/>
        </p:spPr>
        <p:txBody>
          <a:bodyPr/>
          <a:lstStyle/>
          <a:p>
            <a:endParaRPr lang="vi-VN"/>
          </a:p>
        </p:txBody>
      </p:sp>
      <p:sp>
        <p:nvSpPr>
          <p:cNvPr id="22" name="Text 18"/>
          <p:cNvSpPr/>
          <p:nvPr/>
        </p:nvSpPr>
        <p:spPr>
          <a:xfrm>
            <a:off x="6812280" y="4315968"/>
            <a:ext cx="4389120" cy="457200"/>
          </a:xfrm>
          <a:prstGeom prst="rect">
            <a:avLst/>
          </a:prstGeom>
          <a:noFill/>
          <a:ln/>
        </p:spPr>
        <p:txBody>
          <a:bodyPr wrap="square" lIns="0" tIns="0" rIns="0" bIns="0" rtlCol="0" anchor="ctr"/>
          <a:lstStyle/>
          <a:p>
            <a:pPr marL="0" indent="0">
              <a:buNone/>
            </a:pPr>
            <a:r>
              <a:rPr lang="en-US" sz="1150" b="1" dirty="0">
                <a:solidFill>
                  <a:schemeClr val="bg1"/>
                </a:solidFill>
                <a:ea typeface="Calibri" pitchFamily="34" charset="-122"/>
                <a:cs typeface="Calibri" pitchFamily="34" charset="-120"/>
              </a:rPr>
              <a:t>Thanh toán: </a:t>
            </a:r>
            <a:r>
              <a:rPr lang="en-US" sz="1150" dirty="0">
                <a:solidFill>
                  <a:schemeClr val="bg1"/>
                </a:solidFill>
                <a:ea typeface="Calibri" pitchFamily="34" charset="-122"/>
                <a:cs typeface="Calibri" pitchFamily="34" charset="-120"/>
              </a:rPr>
              <a:t>Phiếu 1, đợt 1, 800.000 đ</a:t>
            </a:r>
            <a:endParaRPr lang="en-US" sz="1150" dirty="0">
              <a:solidFill>
                <a:schemeClr val="bg1"/>
              </a:solidFill>
            </a:endParaRPr>
          </a:p>
        </p:txBody>
      </p:sp>
      <p:sp>
        <p:nvSpPr>
          <p:cNvPr id="23" name="Shape 19"/>
          <p:cNvSpPr/>
          <p:nvPr/>
        </p:nvSpPr>
        <p:spPr>
          <a:xfrm>
            <a:off x="6629400" y="4983480"/>
            <a:ext cx="4754880" cy="658368"/>
          </a:xfrm>
          <a:prstGeom prst="roundRect">
            <a:avLst>
              <a:gd name="adj" fmla="val 11111"/>
            </a:avLst>
          </a:prstGeom>
          <a:solidFill>
            <a:srgbClr val="1836B2"/>
          </a:solidFill>
          <a:ln/>
        </p:spPr>
        <p:txBody>
          <a:bodyPr/>
          <a:lstStyle/>
          <a:p>
            <a:endParaRPr lang="vi-VN"/>
          </a:p>
        </p:txBody>
      </p:sp>
      <p:sp>
        <p:nvSpPr>
          <p:cNvPr id="24" name="Text 20"/>
          <p:cNvSpPr/>
          <p:nvPr/>
        </p:nvSpPr>
        <p:spPr>
          <a:xfrm>
            <a:off x="6812280" y="5093208"/>
            <a:ext cx="4389120" cy="457200"/>
          </a:xfrm>
          <a:prstGeom prst="rect">
            <a:avLst/>
          </a:prstGeom>
          <a:noFill/>
          <a:ln/>
        </p:spPr>
        <p:txBody>
          <a:bodyPr wrap="square" lIns="0" tIns="0" rIns="0" bIns="0" rtlCol="0" anchor="ctr"/>
          <a:lstStyle/>
          <a:p>
            <a:pPr marL="0" indent="0">
              <a:buNone/>
            </a:pPr>
            <a:r>
              <a:rPr lang="en-US" sz="1150" b="1" dirty="0">
                <a:solidFill>
                  <a:schemeClr val="bg1"/>
                </a:solidFill>
                <a:ea typeface="Calibri" pitchFamily="34" charset="-122"/>
                <a:cs typeface="Calibri" pitchFamily="34" charset="-120"/>
              </a:rPr>
              <a:t>Đăng ký gói tập: </a:t>
            </a:r>
            <a:r>
              <a:rPr lang="en-US" sz="1150" dirty="0">
                <a:solidFill>
                  <a:schemeClr val="bg1"/>
                </a:solidFill>
                <a:ea typeface="Calibri" pitchFamily="34" charset="-122"/>
                <a:cs typeface="Calibri" pitchFamily="34" charset="-120"/>
              </a:rPr>
              <a:t>HV 1 - Gói 3 tháng, hạn 25/10</a:t>
            </a:r>
            <a:endParaRPr lang="en-US" sz="1150" dirty="0">
              <a:solidFill>
                <a:schemeClr val="bg1"/>
              </a:solidFill>
            </a:endParaRPr>
          </a:p>
        </p:txBody>
      </p:sp>
      <p:pic>
        <p:nvPicPr>
          <p:cNvPr id="9008" name="UIT Logo Mark" descr="UIT logo"/>
          <p:cNvPicPr>
            <a:picLocks noChangeAspect="1"/>
          </p:cNvPicPr>
          <p:nvPr/>
        </p:nvPicPr>
        <p:blipFill>
          <a:blip r:embed="rId5"/>
          <a:stretch>
            <a:fillRect/>
          </a:stretch>
        </p:blipFill>
        <p:spPr>
          <a:xfrm>
            <a:off x="6234" y="1"/>
            <a:ext cx="3380787" cy="8961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12" name="UIT Logo Mark" descr="UIT logo">
            <a:extLst>
              <a:ext uri="{FF2B5EF4-FFF2-40B4-BE49-F238E27FC236}">
                <a16:creationId xmlns:a16="http://schemas.microsoft.com/office/drawing/2014/main" id="{35693DA9-33AA-C4FA-0297-FED32BCB2D63}"/>
              </a:ext>
            </a:extLst>
          </p:cNvPr>
          <p:cNvPicPr>
            <a:picLocks noChangeAspect="1"/>
          </p:cNvPicPr>
          <p:nvPr/>
        </p:nvPicPr>
        <p:blipFill>
          <a:blip r:embed="rId3"/>
          <a:stretch>
            <a:fillRect/>
          </a:stretch>
        </p:blipFill>
        <p:spPr>
          <a:xfrm>
            <a:off x="-4240" y="0"/>
            <a:ext cx="3104804" cy="822960"/>
          </a:xfrm>
          <a:prstGeom prst="rect">
            <a:avLst/>
          </a:prstGeom>
        </p:spPr>
      </p:pic>
      <p:sp>
        <p:nvSpPr>
          <p:cNvPr id="13" name="TextBox 12"/>
          <p:cNvSpPr txBox="1"/>
          <p:nvPr/>
        </p:nvSpPr>
        <p:spPr>
          <a:xfrm>
            <a:off x="548640" y="1051560"/>
            <a:ext cx="11094415" cy="640080"/>
          </a:xfrm>
          <a:prstGeom prst="rect">
            <a:avLst/>
          </a:prstGeom>
          <a:noFill/>
        </p:spPr>
        <p:txBody>
          <a:bodyPr wrap="none" lIns="0" tIns="0" rIns="0" bIns="0">
            <a:spAutoFit/>
          </a:bodyPr>
          <a:lstStyle/>
          <a:p>
            <a:pPr algn="ctr"/>
            <a:r>
              <a:rPr sz="2600" b="1">
                <a:solidFill>
                  <a:srgbClr val="2F3C7E"/>
                </a:solidFill>
                <a:latin typeface="Cambria"/>
              </a:rPr>
              <a:t>Tình huống kiểm thử đạt yêu cầu</a:t>
            </a:r>
          </a:p>
        </p:txBody>
      </p:sp>
      <p:sp>
        <p:nvSpPr>
          <p:cNvPr id="14" name="Rounded Rectangle 13"/>
          <p:cNvSpPr/>
          <p:nvPr/>
        </p:nvSpPr>
        <p:spPr>
          <a:xfrm>
            <a:off x="1981047" y="2011680"/>
            <a:ext cx="8229600" cy="3383280"/>
          </a:xfrm>
          <a:prstGeom prst="roundRect">
            <a:avLst>
              <a:gd name="adj" fmla="val 5000"/>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21127" y="2468880"/>
            <a:ext cx="6949440" cy="2468880"/>
          </a:xfrm>
          <a:prstGeom prst="rect">
            <a:avLst/>
          </a:prstGeom>
          <a:noFill/>
        </p:spPr>
        <p:txBody>
          <a:bodyPr wrap="square" lIns="0" tIns="0" rIns="0" bIns="0">
            <a:spAutoFit/>
          </a:bodyPr>
          <a:lstStyle/>
          <a:p>
            <a:pPr>
              <a:spcAft>
                <a:spcPts val="1600"/>
              </a:spcAft>
            </a:pPr>
            <a:r>
              <a:rPr sz="1600">
                <a:solidFill>
                  <a:srgbClr val="E8EAF6"/>
                </a:solidFill>
                <a:latin typeface="Calibri"/>
              </a:rPr>
              <a:t>✓  Trùng CCCD / tên gói / tên dịch vụ đều bị chặn</a:t>
            </a:r>
          </a:p>
          <a:p>
            <a:pPr>
              <a:spcAft>
                <a:spcPts val="1600"/>
              </a:spcAft>
            </a:pPr>
            <a:r>
              <a:rPr sz="1600">
                <a:solidFill>
                  <a:srgbClr val="E8EAF6"/>
                </a:solidFill>
                <a:latin typeface="Calibri"/>
              </a:rPr>
              <a:t>✓  Điểm danh khi chưa thanh toán → bị chặn</a:t>
            </a:r>
          </a:p>
          <a:p>
            <a:pPr>
              <a:spcAft>
                <a:spcPts val="1600"/>
              </a:spcAft>
            </a:pPr>
            <a:r>
              <a:rPr sz="1600">
                <a:solidFill>
                  <a:srgbClr val="E8EAF6"/>
                </a:solidFill>
                <a:latin typeface="Calibri"/>
              </a:rPr>
              <a:t>✓  Mua dịch vụ khi chưa điểm danh → bị chặn</a:t>
            </a:r>
          </a:p>
          <a:p>
            <a:pPr>
              <a:spcAft>
                <a:spcPts val="1600"/>
              </a:spcAft>
            </a:pPr>
            <a:r>
              <a:rPr sz="1600">
                <a:solidFill>
                  <a:srgbClr val="E8EAF6"/>
                </a:solidFill>
                <a:latin typeface="Calibri"/>
              </a:rPr>
              <a:t>✓  Thanh toán đợt 2 chỉ tính đúng phần mới</a:t>
            </a:r>
          </a:p>
          <a:p>
            <a:pPr>
              <a:spcAft>
                <a:spcPts val="1600"/>
              </a:spcAft>
            </a:pPr>
            <a:r>
              <a:rPr sz="1600">
                <a:solidFill>
                  <a:srgbClr val="E8EAF6"/>
                </a:solidFill>
                <a:latin typeface="Calibri"/>
              </a:rPr>
              <a:t>✓  Xóa dữ liệu đang tham chiếu → bị chặn an toàn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2B5C"/>
        </a:solidFill>
        <a:effectLst/>
      </p:bgPr>
    </p:bg>
    <p:spTree>
      <p:nvGrpSpPr>
        <p:cNvPr id="1" name=""/>
        <p:cNvGrpSpPr/>
        <p:nvPr/>
      </p:nvGrpSpPr>
      <p:grpSpPr>
        <a:xfrm>
          <a:off x="0" y="0"/>
          <a:ext cx="0" cy="0"/>
          <a:chOff x="0" y="0"/>
          <a:chExt cx="0" cy="0"/>
        </a:xfrm>
      </p:grpSpPr>
      <p:sp>
        <p:nvSpPr>
          <p:cNvPr id="3" name="Text 1"/>
          <p:cNvSpPr/>
          <p:nvPr/>
        </p:nvSpPr>
        <p:spPr>
          <a:xfrm>
            <a:off x="640080" y="411480"/>
            <a:ext cx="10908792" cy="685800"/>
          </a:xfrm>
          <a:prstGeom prst="rect">
            <a:avLst/>
          </a:prstGeom>
          <a:noFill/>
          <a:ln/>
        </p:spPr>
        <p:txBody>
          <a:bodyPr wrap="square" rtlCol="0" anchor="ctr"/>
          <a:lstStyle/>
          <a:p>
            <a:pPr marL="0" indent="0" algn="ctr">
              <a:buNone/>
            </a:pPr>
            <a:r>
              <a:rPr lang="en-US" sz="2800" b="1" dirty="0">
                <a:solidFill>
                  <a:schemeClr val="bg1"/>
                </a:solidFill>
                <a:ea typeface="Cambria" pitchFamily="34" charset="-122"/>
                <a:cs typeface="Cambria" pitchFamily="34" charset="-120"/>
              </a:rPr>
              <a:t>	</a:t>
            </a:r>
            <a:r>
              <a:rPr lang="en-US" sz="2800" b="1" dirty="0" err="1">
                <a:solidFill>
                  <a:schemeClr val="bg1"/>
                </a:solidFill>
                <a:ea typeface="Cambria" pitchFamily="34" charset="-122"/>
                <a:cs typeface="Cambria" pitchFamily="34" charset="-120"/>
              </a:rPr>
              <a:t>Kết</a:t>
            </a:r>
            <a:r>
              <a:rPr lang="en-US" sz="2800" b="1" dirty="0">
                <a:solidFill>
                  <a:schemeClr val="bg1"/>
                </a:solidFill>
                <a:ea typeface="Cambria" pitchFamily="34" charset="-122"/>
                <a:cs typeface="Cambria" pitchFamily="34" charset="-120"/>
              </a:rPr>
              <a:t> luận và hướng phát triển</a:t>
            </a:r>
            <a:endParaRPr lang="en-US" sz="2800" dirty="0">
              <a:solidFill>
                <a:schemeClr val="bg1"/>
              </a:solidFill>
            </a:endParaRPr>
          </a:p>
        </p:txBody>
      </p:sp>
      <p:sp>
        <p:nvSpPr>
          <p:cNvPr id="4" name="Shape 2"/>
          <p:cNvSpPr/>
          <p:nvPr/>
        </p:nvSpPr>
        <p:spPr>
          <a:xfrm>
            <a:off x="640080" y="1371600"/>
            <a:ext cx="5394960" cy="4663440"/>
          </a:xfrm>
          <a:prstGeom prst="roundRect">
            <a:avLst>
              <a:gd name="adj" fmla="val 2353"/>
            </a:avLst>
          </a:prstGeom>
          <a:solidFill>
            <a:srgbClr val="1836B2"/>
          </a:solidFill>
          <a:ln/>
        </p:spPr>
        <p:txBody>
          <a:bodyPr/>
          <a:lstStyle/>
          <a:p>
            <a:endParaRPr lang="vi-VN">
              <a:solidFill>
                <a:schemeClr val="bg1"/>
              </a:solidFill>
            </a:endParaRPr>
          </a:p>
        </p:txBody>
      </p:sp>
      <p:sp>
        <p:nvSpPr>
          <p:cNvPr id="5" name="Shape 3"/>
          <p:cNvSpPr/>
          <p:nvPr/>
        </p:nvSpPr>
        <p:spPr>
          <a:xfrm>
            <a:off x="960120" y="1645920"/>
            <a:ext cx="731520" cy="731520"/>
          </a:xfrm>
          <a:prstGeom prst="ellipse">
            <a:avLst/>
          </a:prstGeom>
          <a:solidFill>
            <a:srgbClr val="2F3C7E"/>
          </a:solidFill>
          <a:ln/>
        </p:spPr>
        <p:txBody>
          <a:bodyPr/>
          <a:lstStyle/>
          <a:p>
            <a:endParaRPr lang="vi-VN">
              <a:solidFill>
                <a:schemeClr val="bg1"/>
              </a:solidFill>
            </a:endParaRPr>
          </a:p>
        </p:txBody>
      </p:sp>
      <p:pic>
        <p:nvPicPr>
          <p:cNvPr id="6" name="Image 0" descr="preencoded.png"/>
          <p:cNvPicPr>
            <a:picLocks noChangeAspect="1"/>
          </p:cNvPicPr>
          <p:nvPr/>
        </p:nvPicPr>
        <p:blipFill>
          <a:blip r:embed="rId3"/>
          <a:stretch>
            <a:fillRect/>
          </a:stretch>
        </p:blipFill>
        <p:spPr>
          <a:xfrm>
            <a:off x="1135685" y="1821485"/>
            <a:ext cx="380390" cy="380390"/>
          </a:xfrm>
          <a:prstGeom prst="rect">
            <a:avLst/>
          </a:prstGeom>
        </p:spPr>
      </p:pic>
      <p:sp>
        <p:nvSpPr>
          <p:cNvPr id="7" name="Text 4"/>
          <p:cNvSpPr/>
          <p:nvPr/>
        </p:nvSpPr>
        <p:spPr>
          <a:xfrm>
            <a:off x="1828800" y="1755648"/>
            <a:ext cx="3840480" cy="457200"/>
          </a:xfrm>
          <a:prstGeom prst="rect">
            <a:avLst/>
          </a:prstGeom>
          <a:noFill/>
          <a:ln/>
        </p:spPr>
        <p:txBody>
          <a:bodyPr wrap="square" lIns="0" tIns="0" rIns="0" bIns="0" rtlCol="0" anchor="ctr"/>
          <a:lstStyle/>
          <a:p>
            <a:pPr marL="0" indent="0">
              <a:buNone/>
            </a:pPr>
            <a:r>
              <a:rPr lang="en-US" sz="1700" b="1" dirty="0">
                <a:solidFill>
                  <a:schemeClr val="bg1"/>
                </a:solidFill>
                <a:ea typeface="Cambria" pitchFamily="34" charset="-122"/>
                <a:cs typeface="Cambria" pitchFamily="34" charset="-120"/>
              </a:rPr>
              <a:t>Kết quả đạt được</a:t>
            </a:r>
            <a:endParaRPr lang="en-US" sz="1700" dirty="0">
              <a:solidFill>
                <a:schemeClr val="bg1"/>
              </a:solidFill>
            </a:endParaRPr>
          </a:p>
        </p:txBody>
      </p:sp>
      <p:sp>
        <p:nvSpPr>
          <p:cNvPr id="8" name="Text 5"/>
          <p:cNvSpPr/>
          <p:nvPr/>
        </p:nvSpPr>
        <p:spPr>
          <a:xfrm>
            <a:off x="960120" y="2468880"/>
            <a:ext cx="4846320" cy="3383280"/>
          </a:xfrm>
          <a:prstGeom prst="rect">
            <a:avLst/>
          </a:prstGeom>
          <a:noFill/>
          <a:ln/>
        </p:spPr>
        <p:txBody>
          <a:bodyPr wrap="square" rtlCol="0" anchor="ctr"/>
          <a:lstStyle/>
          <a:p>
            <a:pPr marL="342900" indent="-342900">
              <a:spcAft>
                <a:spcPts val="900"/>
              </a:spcAft>
              <a:buSzPct val="100000"/>
              <a:buChar char="✓"/>
            </a:pPr>
            <a:r>
              <a:rPr lang="en-US" sz="1300" dirty="0">
                <a:solidFill>
                  <a:schemeClr val="bg1"/>
                </a:solidFill>
                <a:ea typeface="Calibri" pitchFamily="34" charset="-122"/>
                <a:cs typeface="Calibri" pitchFamily="34" charset="-120"/>
              </a:rPr>
              <a:t>Ứng dụng Tkinter 8 tab hoàn chỉnh</a:t>
            </a:r>
            <a:endParaRPr lang="en-US" sz="1300" dirty="0">
              <a:solidFill>
                <a:schemeClr val="bg1"/>
              </a:solidFill>
            </a:endParaRPr>
          </a:p>
          <a:p>
            <a:pPr marL="342900" indent="-342900">
              <a:spcAft>
                <a:spcPts val="900"/>
              </a:spcAft>
              <a:buSzPct val="100000"/>
              <a:buChar char="✓"/>
            </a:pPr>
            <a:r>
              <a:rPr lang="en-US" sz="1300" dirty="0">
                <a:solidFill>
                  <a:schemeClr val="bg1"/>
                </a:solidFill>
                <a:ea typeface="Calibri" pitchFamily="34" charset="-122"/>
                <a:cs typeface="Calibri" pitchFamily="34" charset="-120"/>
              </a:rPr>
              <a:t>CSDL SQLite 10 bảng, đủ loại quan hệ</a:t>
            </a:r>
            <a:endParaRPr lang="en-US" sz="1300" dirty="0">
              <a:solidFill>
                <a:schemeClr val="bg1"/>
              </a:solidFill>
            </a:endParaRPr>
          </a:p>
          <a:p>
            <a:pPr marL="342900" indent="-342900">
              <a:spcAft>
                <a:spcPts val="900"/>
              </a:spcAft>
              <a:buSzPct val="100000"/>
              <a:buChar char="✓"/>
            </a:pPr>
            <a:r>
              <a:rPr lang="en-US" sz="1300" dirty="0">
                <a:solidFill>
                  <a:schemeClr val="bg1"/>
                </a:solidFill>
                <a:ea typeface="Calibri" pitchFamily="34" charset="-122"/>
                <a:cs typeface="Calibri" pitchFamily="34" charset="-120"/>
              </a:rPr>
              <a:t>Luồng nghiệp vụ 4 bước ràng buộc chặt: đăng ký → thanh toán → điểm danh → dịch vụ</a:t>
            </a:r>
            <a:endParaRPr lang="en-US" sz="1300" dirty="0">
              <a:solidFill>
                <a:schemeClr val="bg1"/>
              </a:solidFill>
            </a:endParaRPr>
          </a:p>
          <a:p>
            <a:pPr marL="342900" indent="-342900">
              <a:spcAft>
                <a:spcPts val="900"/>
              </a:spcAft>
              <a:buSzPct val="100000"/>
              <a:buChar char="✓"/>
            </a:pPr>
            <a:r>
              <a:rPr lang="en-US" sz="1300" dirty="0">
                <a:solidFill>
                  <a:schemeClr val="bg1"/>
                </a:solidFill>
                <a:ea typeface="Calibri" pitchFamily="34" charset="-122"/>
                <a:cs typeface="Calibri" pitchFamily="34" charset="-120"/>
              </a:rPr>
              <a:t>Thanh toán nhiều đợt không tính trùng</a:t>
            </a:r>
            <a:endParaRPr lang="en-US" sz="1300" dirty="0">
              <a:solidFill>
                <a:schemeClr val="bg1"/>
              </a:solidFill>
            </a:endParaRPr>
          </a:p>
          <a:p>
            <a:pPr marL="342900" indent="-342900">
              <a:spcAft>
                <a:spcPts val="900"/>
              </a:spcAft>
              <a:buSzPct val="100000"/>
              <a:buChar char="✓"/>
            </a:pPr>
            <a:r>
              <a:rPr lang="en-US" sz="1300" dirty="0">
                <a:solidFill>
                  <a:schemeClr val="bg1"/>
                </a:solidFill>
                <a:ea typeface="Calibri" pitchFamily="34" charset="-122"/>
                <a:cs typeface="Calibri" pitchFamily="34" charset="-120"/>
              </a:rPr>
              <a:t>Nhật ký thay đổi đầy đủ, dữ liệu tức thời</a:t>
            </a:r>
            <a:endParaRPr lang="en-US" sz="1300" dirty="0">
              <a:solidFill>
                <a:schemeClr val="bg1"/>
              </a:solidFill>
            </a:endParaRPr>
          </a:p>
        </p:txBody>
      </p:sp>
      <p:sp>
        <p:nvSpPr>
          <p:cNvPr id="9" name="Shape 6"/>
          <p:cNvSpPr/>
          <p:nvPr/>
        </p:nvSpPr>
        <p:spPr>
          <a:xfrm>
            <a:off x="6309360" y="1371600"/>
            <a:ext cx="5239512" cy="4663440"/>
          </a:xfrm>
          <a:prstGeom prst="roundRect">
            <a:avLst>
              <a:gd name="adj" fmla="val 2353"/>
            </a:avLst>
          </a:prstGeom>
          <a:solidFill>
            <a:srgbClr val="1836B2"/>
          </a:solidFill>
          <a:ln/>
        </p:spPr>
        <p:txBody>
          <a:bodyPr/>
          <a:lstStyle/>
          <a:p>
            <a:endParaRPr lang="vi-VN">
              <a:solidFill>
                <a:schemeClr val="bg1"/>
              </a:solidFill>
            </a:endParaRPr>
          </a:p>
        </p:txBody>
      </p:sp>
      <p:sp>
        <p:nvSpPr>
          <p:cNvPr id="10" name="Shape 7"/>
          <p:cNvSpPr/>
          <p:nvPr/>
        </p:nvSpPr>
        <p:spPr>
          <a:xfrm>
            <a:off x="6629400" y="1645920"/>
            <a:ext cx="731520" cy="731520"/>
          </a:xfrm>
          <a:prstGeom prst="ellipse">
            <a:avLst/>
          </a:prstGeom>
          <a:solidFill>
            <a:srgbClr val="2F3C7E"/>
          </a:solidFill>
          <a:ln/>
        </p:spPr>
        <p:txBody>
          <a:bodyPr/>
          <a:lstStyle/>
          <a:p>
            <a:endParaRPr lang="vi-VN">
              <a:solidFill>
                <a:schemeClr val="bg1"/>
              </a:solidFill>
            </a:endParaRPr>
          </a:p>
        </p:txBody>
      </p:sp>
      <p:pic>
        <p:nvPicPr>
          <p:cNvPr id="11" name="Image 1" descr="preencoded.png"/>
          <p:cNvPicPr>
            <a:picLocks noChangeAspect="1"/>
          </p:cNvPicPr>
          <p:nvPr/>
        </p:nvPicPr>
        <p:blipFill>
          <a:blip r:embed="rId4"/>
          <a:stretch>
            <a:fillRect/>
          </a:stretch>
        </p:blipFill>
        <p:spPr>
          <a:xfrm>
            <a:off x="6804965" y="1821485"/>
            <a:ext cx="380390" cy="380390"/>
          </a:xfrm>
          <a:prstGeom prst="rect">
            <a:avLst/>
          </a:prstGeom>
        </p:spPr>
      </p:pic>
      <p:sp>
        <p:nvSpPr>
          <p:cNvPr id="12" name="Text 8"/>
          <p:cNvSpPr/>
          <p:nvPr/>
        </p:nvSpPr>
        <p:spPr>
          <a:xfrm>
            <a:off x="7498080" y="1755648"/>
            <a:ext cx="3657600" cy="457200"/>
          </a:xfrm>
          <a:prstGeom prst="rect">
            <a:avLst/>
          </a:prstGeom>
          <a:noFill/>
          <a:ln/>
        </p:spPr>
        <p:txBody>
          <a:bodyPr wrap="square" lIns="0" tIns="0" rIns="0" bIns="0" rtlCol="0" anchor="ctr"/>
          <a:lstStyle/>
          <a:p>
            <a:pPr marL="0" indent="0">
              <a:buNone/>
            </a:pPr>
            <a:r>
              <a:rPr lang="en-US" sz="1700" b="1" dirty="0">
                <a:solidFill>
                  <a:schemeClr val="bg1"/>
                </a:solidFill>
                <a:ea typeface="Cambria" pitchFamily="34" charset="-122"/>
                <a:cs typeface="Cambria" pitchFamily="34" charset="-120"/>
              </a:rPr>
              <a:t>Hướng phát triển</a:t>
            </a:r>
            <a:endParaRPr lang="en-US" sz="1700" dirty="0">
              <a:solidFill>
                <a:schemeClr val="bg1"/>
              </a:solidFill>
            </a:endParaRPr>
          </a:p>
        </p:txBody>
      </p:sp>
      <p:sp>
        <p:nvSpPr>
          <p:cNvPr id="13" name="Text 9"/>
          <p:cNvSpPr/>
          <p:nvPr/>
        </p:nvSpPr>
        <p:spPr>
          <a:xfrm>
            <a:off x="6629400" y="2468880"/>
            <a:ext cx="4572000" cy="3108960"/>
          </a:xfrm>
          <a:prstGeom prst="rect">
            <a:avLst/>
          </a:prstGeom>
          <a:noFill/>
          <a:ln/>
        </p:spPr>
        <p:txBody>
          <a:bodyPr wrap="square" rtlCol="0" anchor="ctr"/>
          <a:lstStyle/>
          <a:p>
            <a:pPr marL="342900" indent="-342900">
              <a:spcAft>
                <a:spcPts val="1100"/>
              </a:spcAft>
              <a:buSzPct val="100000"/>
              <a:buChar char="•"/>
            </a:pPr>
            <a:r>
              <a:rPr lang="en-US" sz="1350" dirty="0">
                <a:solidFill>
                  <a:schemeClr val="bg1"/>
                </a:solidFill>
                <a:ea typeface="Calibri" pitchFamily="34" charset="-122"/>
                <a:cs typeface="Calibri" pitchFamily="34" charset="-120"/>
              </a:rPr>
              <a:t>Mã hóa mật khẩu, phân quyền theo vai trò</a:t>
            </a:r>
            <a:endParaRPr lang="en-US" sz="1350" dirty="0">
              <a:solidFill>
                <a:schemeClr val="bg1"/>
              </a:solidFill>
            </a:endParaRPr>
          </a:p>
          <a:p>
            <a:pPr marL="342900" indent="-342900">
              <a:spcAft>
                <a:spcPts val="1100"/>
              </a:spcAft>
              <a:buSzPct val="100000"/>
              <a:buChar char="•"/>
            </a:pPr>
            <a:r>
              <a:rPr lang="en-US" sz="1350" dirty="0">
                <a:solidFill>
                  <a:schemeClr val="bg1"/>
                </a:solidFill>
                <a:ea typeface="Calibri" pitchFamily="34" charset="-122"/>
                <a:cs typeface="Calibri" pitchFamily="34" charset="-120"/>
              </a:rPr>
              <a:t>Xuất hóa đơn PDF/Excel; biểu đồ doanh thu</a:t>
            </a:r>
            <a:endParaRPr lang="en-US" sz="1350" dirty="0">
              <a:solidFill>
                <a:schemeClr val="bg1"/>
              </a:solidFill>
            </a:endParaRPr>
          </a:p>
          <a:p>
            <a:pPr marL="342900" indent="-342900">
              <a:spcAft>
                <a:spcPts val="1100"/>
              </a:spcAft>
              <a:buSzPct val="100000"/>
              <a:buChar char="•"/>
            </a:pPr>
            <a:r>
              <a:rPr lang="en-US" sz="1350" dirty="0">
                <a:solidFill>
                  <a:schemeClr val="bg1"/>
                </a:solidFill>
                <a:ea typeface="Calibri" pitchFamily="34" charset="-122"/>
                <a:cs typeface="Calibri" pitchFamily="34" charset="-120"/>
              </a:rPr>
              <a:t>Nhắc hạn tập, quét QR/thẻ khi check-in</a:t>
            </a:r>
            <a:endParaRPr lang="en-US" sz="1350" dirty="0">
              <a:solidFill>
                <a:schemeClr val="bg1"/>
              </a:solidFill>
            </a:endParaRPr>
          </a:p>
          <a:p>
            <a:pPr marL="342900" indent="-342900">
              <a:spcAft>
                <a:spcPts val="1100"/>
              </a:spcAft>
              <a:buSzPct val="100000"/>
              <a:buChar char="•"/>
            </a:pPr>
            <a:r>
              <a:rPr lang="en-US" sz="1350" dirty="0">
                <a:solidFill>
                  <a:schemeClr val="bg1"/>
                </a:solidFill>
                <a:ea typeface="Calibri" pitchFamily="34" charset="-122"/>
                <a:cs typeface="Calibri" pitchFamily="34" charset="-120"/>
              </a:rPr>
              <a:t>Nâng cấp lên ứng dụng web </a:t>
            </a:r>
            <a:r>
              <a:rPr lang="en-US" sz="1350" dirty="0" err="1">
                <a:solidFill>
                  <a:schemeClr val="bg1"/>
                </a:solidFill>
                <a:ea typeface="Calibri" pitchFamily="34" charset="-122"/>
                <a:cs typeface="Calibri" pitchFamily="34" charset="-120"/>
              </a:rPr>
              <a:t>nhiều</a:t>
            </a:r>
            <a:r>
              <a:rPr lang="en-US" sz="1350" dirty="0">
                <a:solidFill>
                  <a:schemeClr val="bg1"/>
                </a:solidFill>
                <a:ea typeface="Calibri" pitchFamily="34" charset="-122"/>
                <a:cs typeface="Calibri" pitchFamily="34" charset="-120"/>
              </a:rPr>
              <a:t> </a:t>
            </a:r>
            <a:r>
              <a:rPr lang="en-US" sz="1350" dirty="0" err="1">
                <a:solidFill>
                  <a:schemeClr val="bg1"/>
                </a:solidFill>
                <a:ea typeface="Calibri" pitchFamily="34" charset="-122"/>
                <a:cs typeface="Calibri" pitchFamily="34" charset="-120"/>
              </a:rPr>
              <a:t>máy</a:t>
            </a:r>
            <a:endParaRPr lang="en-US" sz="1350" dirty="0">
              <a:solidFill>
                <a:schemeClr val="bg1"/>
              </a:solidFill>
              <a:ea typeface="Calibri" pitchFamily="34" charset="-122"/>
              <a:cs typeface="Calibri" pitchFamily="34" charset="-120"/>
            </a:endParaRPr>
          </a:p>
        </p:txBody>
      </p:sp>
      <p:sp>
        <p:nvSpPr>
          <p:cNvPr id="14" name="Text 10"/>
          <p:cNvSpPr/>
          <p:nvPr/>
        </p:nvSpPr>
        <p:spPr>
          <a:xfrm>
            <a:off x="0" y="6263640"/>
            <a:ext cx="12188952" cy="457200"/>
          </a:xfrm>
          <a:prstGeom prst="rect">
            <a:avLst/>
          </a:prstGeom>
          <a:noFill/>
          <a:ln/>
        </p:spPr>
        <p:txBody>
          <a:bodyPr wrap="square" rtlCol="0" anchor="ctr"/>
          <a:lstStyle/>
          <a:p>
            <a:pPr marL="0" indent="0" algn="ctr">
              <a:buNone/>
            </a:pPr>
            <a:r>
              <a:rPr lang="en-US" sz="1500" i="1" dirty="0">
                <a:solidFill>
                  <a:schemeClr val="bg1"/>
                </a:solidFill>
                <a:ea typeface="Calibri" pitchFamily="34" charset="-122"/>
                <a:cs typeface="Calibri" pitchFamily="34" charset="-120"/>
              </a:rPr>
              <a:t>Em xin cảm </a:t>
            </a:r>
            <a:r>
              <a:rPr lang="en-US" sz="1500" i="1" dirty="0" err="1">
                <a:solidFill>
                  <a:schemeClr val="bg1"/>
                </a:solidFill>
                <a:ea typeface="Calibri" pitchFamily="34" charset="-122"/>
                <a:cs typeface="Calibri" pitchFamily="34" charset="-120"/>
              </a:rPr>
              <a:t>ơn</a:t>
            </a:r>
            <a:r>
              <a:rPr lang="en-US" sz="1500" i="1" dirty="0">
                <a:solidFill>
                  <a:schemeClr val="bg1"/>
                </a:solidFill>
                <a:ea typeface="Calibri" pitchFamily="34" charset="-122"/>
                <a:cs typeface="Calibri" pitchFamily="34" charset="-120"/>
              </a:rPr>
              <a:t> </a:t>
            </a:r>
            <a:r>
              <a:rPr lang="en-US" sz="1500" i="1" dirty="0" err="1">
                <a:solidFill>
                  <a:schemeClr val="bg1"/>
                </a:solidFill>
                <a:ea typeface="Calibri" pitchFamily="34" charset="-122"/>
                <a:cs typeface="Calibri" pitchFamily="34" charset="-120"/>
              </a:rPr>
              <a:t>thầy</a:t>
            </a:r>
            <a:r>
              <a:rPr lang="en-US" sz="1500" i="1" dirty="0">
                <a:solidFill>
                  <a:schemeClr val="bg1"/>
                </a:solidFill>
                <a:ea typeface="Calibri" pitchFamily="34" charset="-122"/>
                <a:cs typeface="Calibri" pitchFamily="34" charset="-120"/>
              </a:rPr>
              <a:t> </a:t>
            </a:r>
            <a:r>
              <a:rPr lang="en-US" sz="1500" i="1" dirty="0" err="1">
                <a:solidFill>
                  <a:schemeClr val="bg1"/>
                </a:solidFill>
                <a:ea typeface="Calibri" pitchFamily="34" charset="-122"/>
                <a:cs typeface="Calibri" pitchFamily="34" charset="-120"/>
              </a:rPr>
              <a:t>và</a:t>
            </a:r>
            <a:r>
              <a:rPr lang="en-US" sz="1500" i="1" dirty="0">
                <a:solidFill>
                  <a:schemeClr val="bg1"/>
                </a:solidFill>
                <a:ea typeface="Calibri" pitchFamily="34" charset="-122"/>
                <a:cs typeface="Calibri" pitchFamily="34" charset="-120"/>
              </a:rPr>
              <a:t> </a:t>
            </a:r>
            <a:r>
              <a:rPr lang="en-US" sz="1500" i="1" dirty="0" err="1">
                <a:solidFill>
                  <a:schemeClr val="bg1"/>
                </a:solidFill>
                <a:ea typeface="Calibri" pitchFamily="34" charset="-122"/>
                <a:cs typeface="Calibri" pitchFamily="34" charset="-120"/>
              </a:rPr>
              <a:t>các</a:t>
            </a:r>
            <a:r>
              <a:rPr lang="en-US" sz="1500" i="1" dirty="0">
                <a:solidFill>
                  <a:schemeClr val="bg1"/>
                </a:solidFill>
                <a:ea typeface="Calibri" pitchFamily="34" charset="-122"/>
                <a:cs typeface="Calibri" pitchFamily="34" charset="-120"/>
              </a:rPr>
              <a:t> </a:t>
            </a:r>
            <a:r>
              <a:rPr lang="en-US" sz="1500" i="1" dirty="0" err="1">
                <a:solidFill>
                  <a:schemeClr val="bg1"/>
                </a:solidFill>
                <a:ea typeface="Calibri" pitchFamily="34" charset="-122"/>
                <a:cs typeface="Calibri" pitchFamily="34" charset="-120"/>
              </a:rPr>
              <a:t>bạn</a:t>
            </a:r>
            <a:r>
              <a:rPr lang="en-US" sz="1500" i="1" dirty="0">
                <a:solidFill>
                  <a:schemeClr val="bg1"/>
                </a:solidFill>
                <a:ea typeface="Calibri" pitchFamily="34" charset="-122"/>
                <a:cs typeface="Calibri" pitchFamily="34" charset="-120"/>
              </a:rPr>
              <a:t> </a:t>
            </a:r>
            <a:r>
              <a:rPr lang="en-US" sz="1500" i="1" dirty="0" err="1">
                <a:solidFill>
                  <a:schemeClr val="bg1"/>
                </a:solidFill>
                <a:ea typeface="Calibri" pitchFamily="34" charset="-122"/>
                <a:cs typeface="Calibri" pitchFamily="34" charset="-120"/>
              </a:rPr>
              <a:t>đã</a:t>
            </a:r>
            <a:r>
              <a:rPr lang="en-US" sz="1500" i="1" dirty="0">
                <a:solidFill>
                  <a:schemeClr val="bg1"/>
                </a:solidFill>
                <a:ea typeface="Calibri" pitchFamily="34" charset="-122"/>
                <a:cs typeface="Calibri" pitchFamily="34" charset="-120"/>
              </a:rPr>
              <a:t> lắng nghe. Em xin phép demo trực tiếp trên máy.</a:t>
            </a:r>
            <a:endParaRPr lang="en-US" sz="1500" dirty="0">
              <a:solidFill>
                <a:schemeClr val="bg1"/>
              </a:solidFill>
            </a:endParaRPr>
          </a:p>
        </p:txBody>
      </p:sp>
      <p:pic>
        <p:nvPicPr>
          <p:cNvPr id="16" name="UIT Logo Mark" descr="UIT logo">
            <a:extLst>
              <a:ext uri="{FF2B5EF4-FFF2-40B4-BE49-F238E27FC236}">
                <a16:creationId xmlns:a16="http://schemas.microsoft.com/office/drawing/2014/main" id="{7C912CA9-7A2C-F9AF-991A-49BA418EA15C}"/>
              </a:ext>
            </a:extLst>
          </p:cNvPr>
          <p:cNvPicPr>
            <a:picLocks noChangeAspect="1"/>
          </p:cNvPicPr>
          <p:nvPr/>
        </p:nvPicPr>
        <p:blipFill>
          <a:blip r:embed="rId5"/>
          <a:stretch>
            <a:fillRect/>
          </a:stretch>
        </p:blipFill>
        <p:spPr>
          <a:xfrm>
            <a:off x="-4240" y="0"/>
            <a:ext cx="3104804"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TotalTime>
  <Words>1357</Words>
  <Application>Microsoft Office PowerPoint</Application>
  <PresentationFormat>Widescreen</PresentationFormat>
  <Paragraphs>130</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Trương Xuân Hậu</cp:lastModifiedBy>
  <cp:revision>10</cp:revision>
  <dcterms:created xsi:type="dcterms:W3CDTF">2026-08-21T13:39:25Z</dcterms:created>
  <dcterms:modified xsi:type="dcterms:W3CDTF">2026-09-29T04:49:54Z</dcterms:modified>
</cp:coreProperties>
</file>